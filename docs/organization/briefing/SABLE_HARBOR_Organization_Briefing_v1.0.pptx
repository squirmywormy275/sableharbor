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BLE_MASTER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1214"/>
          </a:solidFill>
          <a:ln w="12700">
            <a:solidFill>
              <a:srgbClr val="1012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C45124"/>
          </a:solidFill>
          <a:ln w="12700">
            <a:solidFill>
              <a:srgbClr val="C45124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77A7D"/>
                </a:solidFill>
                <a:latin typeface="Inter Display"/>
                <a:ea typeface="Inter Display"/>
                <a:cs typeface="Inter Display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77A7D"/>
                </a:solidFill>
                <a:latin typeface="Inter Display"/>
                <a:ea typeface="Inter Display"/>
                <a:cs typeface="Inter Display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image" Target="../media/image-1-11.png"/><Relationship Id="rId12" Type="http://schemas.openxmlformats.org/officeDocument/2006/relationships/image" Target="../media/image-1-12.svg"/><Relationship Id="rId13" Type="http://schemas.openxmlformats.org/officeDocument/2006/relationships/image" Target="../media/image-1-13.png"/><Relationship Id="rId14" Type="http://schemas.openxmlformats.org/officeDocument/2006/relationships/image" Target="../media/image-1-14.svg"/><Relationship Id="rId15" Type="http://schemas.openxmlformats.org/officeDocument/2006/relationships/image" Target="../media/image-1-15.png"/><Relationship Id="rId16" Type="http://schemas.openxmlformats.org/officeDocument/2006/relationships/image" Target="../media/image-1-16.svg"/><Relationship Id="rId17" Type="http://schemas.openxmlformats.org/officeDocument/2006/relationships/image" Target="../media/image-1-17.png"/><Relationship Id="rId18" Type="http://schemas.openxmlformats.org/officeDocument/2006/relationships/image" Target="../media/image-1-18.svg"/><Relationship Id="rId19" Type="http://schemas.openxmlformats.org/officeDocument/2006/relationships/image" Target="../media/image-1-19.png"/><Relationship Id="rId20" Type="http://schemas.openxmlformats.org/officeDocument/2006/relationships/image" Target="../media/image-1-20.svg"/><Relationship Id="rId21" Type="http://schemas.openxmlformats.org/officeDocument/2006/relationships/slideLayout" Target="../slideLayouts/slideLayout2.xml"/><Relationship Id="rId2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image" Target="../media/image-5-15.png"/><Relationship Id="rId16" Type="http://schemas.openxmlformats.org/officeDocument/2006/relationships/image" Target="../media/image-5-16.sv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image" Target="../media/image-7-15.png"/><Relationship Id="rId16" Type="http://schemas.openxmlformats.org/officeDocument/2006/relationships/image" Target="../media/image-7-16.sv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1480" y="210312"/>
            <a:ext cx="347472" cy="34747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8288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spc="120" kern="0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SABLE HARBOR</a:t>
            </a:r>
            <a:endParaRPr lang="en-US" sz="135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40233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70" spc="110" kern="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CORPORATE ORGANIZATION BRIEFING</a:t>
            </a:r>
            <a:endParaRPr lang="en-US" sz="770" dirty="0"/>
          </a:p>
        </p:txBody>
      </p:sp>
      <p:sp>
        <p:nvSpPr>
          <p:cNvPr id="5" name="Shape 2"/>
          <p:cNvSpPr/>
          <p:nvPr/>
        </p:nvSpPr>
        <p:spPr>
          <a:xfrm>
            <a:off x="2468880" y="182880"/>
            <a:ext cx="0" cy="393192"/>
          </a:xfrm>
          <a:prstGeom prst="line">
            <a:avLst/>
          </a:prstGeom>
          <a:noFill/>
          <a:ln w="12700">
            <a:solidFill>
              <a:srgbClr val="D9D5CD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24912" y="173736"/>
            <a:ext cx="393192" cy="39319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218688" y="137160"/>
            <a:ext cx="8138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spc="60" kern="0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ENTERPRISE ORGANIZATION OVERVIEW</a:t>
            </a:r>
            <a:endParaRPr lang="en-US" sz="2300" dirty="0"/>
          </a:p>
        </p:txBody>
      </p:sp>
      <p:sp>
        <p:nvSpPr>
          <p:cNvPr id="8" name="Text 4"/>
          <p:cNvSpPr txBox="1"/>
          <p:nvPr/>
        </p:nvSpPr>
        <p:spPr>
          <a:xfrm>
            <a:off x="3218688" y="448056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Portfolio structure, operating centers, business remit, and current unit leadership — August 31, 2026</a:t>
            </a:r>
            <a:endParaRPr lang="en-US" sz="940" dirty="0"/>
          </a:p>
        </p:txBody>
      </p:sp>
      <p:sp>
        <p:nvSpPr>
          <p:cNvPr id="9" name="Shape 5"/>
          <p:cNvSpPr/>
          <p:nvPr/>
        </p:nvSpPr>
        <p:spPr>
          <a:xfrm>
            <a:off x="3218688" y="658368"/>
            <a:ext cx="8156448" cy="0"/>
          </a:xfrm>
          <a:prstGeom prst="line">
            <a:avLst/>
          </a:prstGeom>
          <a:noFill/>
          <a:ln w="30480">
            <a:solidFill>
              <a:srgbClr val="C45124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76072" y="932688"/>
            <a:ext cx="11018520" cy="932688"/>
          </a:xfrm>
          <a:prstGeom prst="roundRect">
            <a:avLst>
              <a:gd name="adj" fmla="val 3922"/>
            </a:avLst>
          </a:prstGeom>
          <a:solidFill>
            <a:srgbClr val="FCFBF8"/>
          </a:solidFill>
          <a:ln w="11430">
            <a:solidFill>
              <a:srgbClr val="101214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76072" y="932688"/>
            <a:ext cx="82296" cy="932688"/>
          </a:xfrm>
          <a:prstGeom prst="rect">
            <a:avLst/>
          </a:prstGeom>
          <a:solidFill>
            <a:srgbClr val="C45124"/>
          </a:solidFill>
          <a:ln w="12700">
            <a:solidFill>
              <a:srgbClr val="C45124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4672" y="1124712"/>
            <a:ext cx="548640" cy="5486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08760" y="104241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spc="70" kern="0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SABLE HARBOR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1508760" y="1335024"/>
            <a:ext cx="4910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Industrial-systems company serving mining and natural resources through operational software, applied analytics, bounded experimentation, asset operations, logistics, and method transfer.</a:t>
            </a:r>
            <a:endParaRPr lang="en-US" sz="980" dirty="0"/>
          </a:p>
        </p:txBody>
      </p:sp>
      <p:sp>
        <p:nvSpPr>
          <p:cNvPr id="15" name="Text 10"/>
          <p:cNvSpPr txBox="1"/>
          <p:nvPr/>
        </p:nvSpPr>
        <p:spPr>
          <a:xfrm>
            <a:off x="6601968" y="1060704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spc="60" kern="0" dirty="0">
                <a:solidFill>
                  <a:srgbClr val="C451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CORPORATE HQ</a:t>
            </a:r>
            <a:endParaRPr lang="en-US" sz="700" dirty="0"/>
          </a:p>
        </p:txBody>
      </p:sp>
      <p:sp>
        <p:nvSpPr>
          <p:cNvPr id="16" name="Text 11"/>
          <p:cNvSpPr txBox="1"/>
          <p:nvPr/>
        </p:nvSpPr>
        <p:spPr>
          <a:xfrm>
            <a:off x="6601968" y="125272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Sacramento, California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8275320" y="106070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spc="60" kern="0" dirty="0">
                <a:solidFill>
                  <a:srgbClr val="C451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PRINCIPAL STEWARD</a:t>
            </a:r>
            <a:endParaRPr lang="en-US" sz="700" dirty="0"/>
          </a:p>
        </p:txBody>
      </p:sp>
      <p:sp>
        <p:nvSpPr>
          <p:cNvPr id="18" name="Text 13"/>
          <p:cNvSpPr txBox="1"/>
          <p:nvPr/>
        </p:nvSpPr>
        <p:spPr>
          <a:xfrm>
            <a:off x="8275320" y="125272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Daniel Mercer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9802368" y="1060704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spc="45" kern="0" dirty="0">
                <a:solidFill>
                  <a:srgbClr val="C451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GOVERNANCE ASSOCIATION</a:t>
            </a:r>
            <a:endParaRPr lang="en-US" sz="700" dirty="0"/>
          </a:p>
        </p:txBody>
      </p:sp>
      <p:sp>
        <p:nvSpPr>
          <p:cNvPr id="20" name="Text 15"/>
          <p:cNvSpPr txBox="1"/>
          <p:nvPr/>
        </p:nvSpPr>
        <p:spPr>
          <a:xfrm>
            <a:off x="9802368" y="1225296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Jon Bell</a:t>
            </a:r>
            <a:endParaRPr lang="en-US" sz="91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10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Board-associated; exact role open</a:t>
            </a:r>
            <a:endParaRPr lang="en-US" sz="910" dirty="0"/>
          </a:p>
        </p:txBody>
      </p:sp>
      <p:sp>
        <p:nvSpPr>
          <p:cNvPr id="21" name="Shape 16"/>
          <p:cNvSpPr/>
          <p:nvPr/>
        </p:nvSpPr>
        <p:spPr>
          <a:xfrm>
            <a:off x="6085332" y="1865376"/>
            <a:ext cx="0" cy="228600"/>
          </a:xfrm>
          <a:prstGeom prst="line">
            <a:avLst/>
          </a:prstGeom>
          <a:noFill/>
          <a:ln w="11430">
            <a:solidFill>
              <a:srgbClr val="6F7478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1572768" y="2093976"/>
            <a:ext cx="9052560" cy="0"/>
          </a:xfrm>
          <a:prstGeom prst="line">
            <a:avLst/>
          </a:prstGeom>
          <a:noFill/>
          <a:ln w="10160">
            <a:solidFill>
              <a:srgbClr val="6F747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085332" y="2093976"/>
            <a:ext cx="0" cy="1920240"/>
          </a:xfrm>
          <a:prstGeom prst="line">
            <a:avLst/>
          </a:prstGeom>
          <a:noFill/>
          <a:ln w="10160">
            <a:solidFill>
              <a:srgbClr val="D9D5CD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2468880" y="4014216"/>
            <a:ext cx="7251192" cy="0"/>
          </a:xfrm>
          <a:prstGeom prst="line">
            <a:avLst/>
          </a:prstGeom>
          <a:noFill/>
          <a:ln w="10160">
            <a:solidFill>
              <a:srgbClr val="D9D5CD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847088" y="2093976"/>
            <a:ext cx="0" cy="173736"/>
          </a:xfrm>
          <a:prstGeom prst="line">
            <a:avLst/>
          </a:prstGeom>
          <a:noFill/>
          <a:ln w="10160">
            <a:solidFill>
              <a:srgbClr val="6F7478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4700016" y="2093976"/>
            <a:ext cx="0" cy="173736"/>
          </a:xfrm>
          <a:prstGeom prst="line">
            <a:avLst/>
          </a:prstGeom>
          <a:noFill/>
          <a:ln w="10160">
            <a:solidFill>
              <a:srgbClr val="6F7478"/>
            </a:solidFill>
            <a:prstDash val="solid"/>
            <a:tailEnd type="triangle"/>
          </a:ln>
        </p:spPr>
      </p:sp>
      <p:sp>
        <p:nvSpPr>
          <p:cNvPr id="27" name="Shape 22"/>
          <p:cNvSpPr/>
          <p:nvPr/>
        </p:nvSpPr>
        <p:spPr>
          <a:xfrm>
            <a:off x="7552944" y="2093976"/>
            <a:ext cx="0" cy="173736"/>
          </a:xfrm>
          <a:prstGeom prst="line">
            <a:avLst/>
          </a:prstGeom>
          <a:noFill/>
          <a:ln w="10160">
            <a:solidFill>
              <a:srgbClr val="6F7478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10405872" y="2093976"/>
            <a:ext cx="0" cy="173736"/>
          </a:xfrm>
          <a:prstGeom prst="line">
            <a:avLst/>
          </a:prstGeom>
          <a:noFill/>
          <a:ln w="10160">
            <a:solidFill>
              <a:srgbClr val="6F7478"/>
            </a:solidFill>
            <a:prstDash val="solid"/>
            <a:tailEnd type="triangle"/>
          </a:ln>
        </p:spPr>
      </p:sp>
      <p:sp>
        <p:nvSpPr>
          <p:cNvPr id="29" name="Shape 24"/>
          <p:cNvSpPr/>
          <p:nvPr/>
        </p:nvSpPr>
        <p:spPr>
          <a:xfrm>
            <a:off x="2574036" y="4014216"/>
            <a:ext cx="0" cy="173736"/>
          </a:xfrm>
          <a:prstGeom prst="line">
            <a:avLst/>
          </a:prstGeom>
          <a:noFill/>
          <a:ln w="10160">
            <a:solidFill>
              <a:srgbClr val="6F7478"/>
            </a:solidFill>
            <a:prstDash val="solid"/>
            <a:tailEnd type="triangle"/>
          </a:ln>
        </p:spPr>
      </p:sp>
      <p:sp>
        <p:nvSpPr>
          <p:cNvPr id="30" name="Shape 25"/>
          <p:cNvSpPr/>
          <p:nvPr/>
        </p:nvSpPr>
        <p:spPr>
          <a:xfrm>
            <a:off x="6094476" y="4014216"/>
            <a:ext cx="0" cy="173736"/>
          </a:xfrm>
          <a:prstGeom prst="line">
            <a:avLst/>
          </a:prstGeom>
          <a:noFill/>
          <a:ln w="10160">
            <a:solidFill>
              <a:srgbClr val="6F7478"/>
            </a:solidFill>
            <a:prstDash val="solid"/>
            <a:tailEnd type="triangle"/>
          </a:ln>
        </p:spPr>
      </p:sp>
      <p:sp>
        <p:nvSpPr>
          <p:cNvPr id="31" name="Shape 26"/>
          <p:cNvSpPr/>
          <p:nvPr/>
        </p:nvSpPr>
        <p:spPr>
          <a:xfrm>
            <a:off x="9614916" y="4014216"/>
            <a:ext cx="0" cy="173736"/>
          </a:xfrm>
          <a:prstGeom prst="line">
            <a:avLst/>
          </a:prstGeom>
          <a:noFill/>
          <a:ln w="10160">
            <a:solidFill>
              <a:srgbClr val="6F7478"/>
            </a:solidFill>
            <a:prstDash val="solid"/>
            <a:tailEnd type="triangle"/>
          </a:ln>
        </p:spPr>
      </p:sp>
      <p:sp>
        <p:nvSpPr>
          <p:cNvPr id="32" name="Shape 27"/>
          <p:cNvSpPr/>
          <p:nvPr/>
        </p:nvSpPr>
        <p:spPr>
          <a:xfrm>
            <a:off x="475488" y="2267712"/>
            <a:ext cx="2743200" cy="1389888"/>
          </a:xfrm>
          <a:prstGeom prst="roundRect">
            <a:avLst>
              <a:gd name="adj" fmla="val 2303"/>
            </a:avLst>
          </a:prstGeom>
          <a:solidFill>
            <a:srgbClr val="FFFFFF"/>
          </a:solidFill>
          <a:ln w="11430">
            <a:solidFill>
              <a:srgbClr val="D9D5CD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475488" y="2267712"/>
            <a:ext cx="64008" cy="1389888"/>
          </a:xfrm>
          <a:prstGeom prst="rect">
            <a:avLst/>
          </a:prstGeom>
          <a:solidFill>
            <a:srgbClr val="C45124"/>
          </a:solidFill>
          <a:ln w="12700">
            <a:solidFill>
              <a:srgbClr val="C45124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0080" y="2423160"/>
            <a:ext cx="393192" cy="393192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1133856" y="240487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FOUNDRY FIELD</a:t>
            </a:r>
            <a:endParaRPr lang="en-US" sz="1280" dirty="0"/>
          </a:p>
        </p:txBody>
      </p:sp>
      <p:sp>
        <p:nvSpPr>
          <p:cNvPr id="36" name="Text 30"/>
          <p:cNvSpPr txBox="1"/>
          <p:nvPr/>
        </p:nvSpPr>
        <p:spPr>
          <a:xfrm>
            <a:off x="1133856" y="2633472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0" b="1" spc="50" kern="0" dirty="0">
                <a:solidFill>
                  <a:srgbClr val="C451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MATURE COMMERCIAL PLATFORM</a:t>
            </a:r>
            <a:endParaRPr lang="en-US" sz="670" dirty="0"/>
          </a:p>
        </p:txBody>
      </p:sp>
      <p:sp>
        <p:nvSpPr>
          <p:cNvPr id="37" name="Shape 31"/>
          <p:cNvSpPr/>
          <p:nvPr/>
        </p:nvSpPr>
        <p:spPr>
          <a:xfrm>
            <a:off x="630936" y="2880360"/>
            <a:ext cx="2432304" cy="0"/>
          </a:xfrm>
          <a:prstGeom prst="line">
            <a:avLst/>
          </a:prstGeom>
          <a:noFill/>
          <a:ln w="10160">
            <a:solidFill>
              <a:srgbClr val="D9D5CD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649224" y="294436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b="1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HQ</a:t>
            </a:r>
            <a:endParaRPr lang="en-US" sz="710" dirty="0"/>
          </a:p>
        </p:txBody>
      </p:sp>
      <p:sp>
        <p:nvSpPr>
          <p:cNvPr id="39" name="Text 33"/>
          <p:cNvSpPr txBox="1"/>
          <p:nvPr/>
        </p:nvSpPr>
        <p:spPr>
          <a:xfrm>
            <a:off x="1033272" y="2926080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Sacramento, CA</a:t>
            </a:r>
            <a:endParaRPr lang="en-US" sz="860" dirty="0"/>
          </a:p>
        </p:txBody>
      </p:sp>
      <p:sp>
        <p:nvSpPr>
          <p:cNvPr id="40" name="Text 34"/>
          <p:cNvSpPr txBox="1"/>
          <p:nvPr/>
        </p:nvSpPr>
        <p:spPr>
          <a:xfrm>
            <a:off x="649224" y="316382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b="1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LEAD</a:t>
            </a:r>
            <a:endParaRPr lang="en-US" sz="710" dirty="0"/>
          </a:p>
        </p:txBody>
      </p:sp>
      <p:sp>
        <p:nvSpPr>
          <p:cNvPr id="41" name="Text 35"/>
          <p:cNvSpPr txBox="1"/>
          <p:nvPr/>
        </p:nvSpPr>
        <p:spPr>
          <a:xfrm>
            <a:off x="1033272" y="3145536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Priya Raman</a:t>
            </a:r>
            <a:endParaRPr lang="en-US" sz="860" dirty="0"/>
          </a:p>
        </p:txBody>
      </p:sp>
      <p:sp>
        <p:nvSpPr>
          <p:cNvPr id="42" name="Text 36"/>
          <p:cNvSpPr txBox="1"/>
          <p:nvPr/>
        </p:nvSpPr>
        <p:spPr>
          <a:xfrm>
            <a:off x="649224" y="3346704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Operational data-integration and workflow platform built on the Foundry substrate.</a:t>
            </a:r>
            <a:endParaRPr lang="en-US" sz="765" dirty="0"/>
          </a:p>
        </p:txBody>
      </p:sp>
      <p:sp>
        <p:nvSpPr>
          <p:cNvPr id="43" name="Shape 37"/>
          <p:cNvSpPr/>
          <p:nvPr/>
        </p:nvSpPr>
        <p:spPr>
          <a:xfrm>
            <a:off x="3328416" y="2267712"/>
            <a:ext cx="2743200" cy="1389888"/>
          </a:xfrm>
          <a:prstGeom prst="roundRect">
            <a:avLst>
              <a:gd name="adj" fmla="val 2303"/>
            </a:avLst>
          </a:prstGeom>
          <a:solidFill>
            <a:srgbClr val="FFFFFF"/>
          </a:solidFill>
          <a:ln w="11430">
            <a:solidFill>
              <a:srgbClr val="D9D5CD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44" name="Shape 38"/>
          <p:cNvSpPr/>
          <p:nvPr/>
        </p:nvSpPr>
        <p:spPr>
          <a:xfrm>
            <a:off x="3328416" y="2267712"/>
            <a:ext cx="64008" cy="1389888"/>
          </a:xfrm>
          <a:prstGeom prst="rect">
            <a:avLst/>
          </a:prstGeom>
          <a:solidFill>
            <a:srgbClr val="315F4D"/>
          </a:solidFill>
          <a:ln w="12700">
            <a:solidFill>
              <a:srgbClr val="315F4D"/>
            </a:solidFill>
            <a:prstDash val="solid"/>
          </a:ln>
        </p:spPr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93008" y="2423160"/>
            <a:ext cx="393192" cy="393192"/>
          </a:xfrm>
          <a:prstGeom prst="rect">
            <a:avLst/>
          </a:prstGeom>
        </p:spPr>
      </p:pic>
      <p:sp>
        <p:nvSpPr>
          <p:cNvPr id="46" name="Text 39"/>
          <p:cNvSpPr txBox="1"/>
          <p:nvPr/>
        </p:nvSpPr>
        <p:spPr>
          <a:xfrm>
            <a:off x="3986784" y="240487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WILLOW</a:t>
            </a:r>
            <a:endParaRPr lang="en-US" sz="1280" dirty="0"/>
          </a:p>
        </p:txBody>
      </p:sp>
      <p:sp>
        <p:nvSpPr>
          <p:cNvPr id="47" name="Text 40"/>
          <p:cNvSpPr txBox="1"/>
          <p:nvPr/>
        </p:nvSpPr>
        <p:spPr>
          <a:xfrm>
            <a:off x="3986784" y="2633472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0" b="1" spc="50" kern="0" dirty="0">
                <a:solidFill>
                  <a:srgbClr val="315F4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ACTIVE LABORATORY</a:t>
            </a:r>
            <a:endParaRPr lang="en-US" sz="670" dirty="0"/>
          </a:p>
        </p:txBody>
      </p:sp>
      <p:sp>
        <p:nvSpPr>
          <p:cNvPr id="48" name="Shape 41"/>
          <p:cNvSpPr/>
          <p:nvPr/>
        </p:nvSpPr>
        <p:spPr>
          <a:xfrm>
            <a:off x="3483864" y="2880360"/>
            <a:ext cx="2432304" cy="0"/>
          </a:xfrm>
          <a:prstGeom prst="line">
            <a:avLst/>
          </a:prstGeom>
          <a:noFill/>
          <a:ln w="10160">
            <a:solidFill>
              <a:srgbClr val="D9D5CD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3502152" y="294436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b="1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HQ</a:t>
            </a:r>
            <a:endParaRPr lang="en-US" sz="710" dirty="0"/>
          </a:p>
        </p:txBody>
      </p:sp>
      <p:sp>
        <p:nvSpPr>
          <p:cNvPr id="50" name="Text 43"/>
          <p:cNvSpPr txBox="1"/>
          <p:nvPr/>
        </p:nvSpPr>
        <p:spPr>
          <a:xfrm>
            <a:off x="3886200" y="2926080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Pittsburgh, PA</a:t>
            </a:r>
            <a:endParaRPr lang="en-US" sz="860" dirty="0"/>
          </a:p>
        </p:txBody>
      </p:sp>
      <p:sp>
        <p:nvSpPr>
          <p:cNvPr id="51" name="Text 44"/>
          <p:cNvSpPr txBox="1"/>
          <p:nvPr/>
        </p:nvSpPr>
        <p:spPr>
          <a:xfrm>
            <a:off x="3502152" y="316382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b="1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LEAD</a:t>
            </a:r>
            <a:endParaRPr lang="en-US" sz="710" dirty="0"/>
          </a:p>
        </p:txBody>
      </p:sp>
      <p:sp>
        <p:nvSpPr>
          <p:cNvPr id="52" name="Text 45"/>
          <p:cNvSpPr txBox="1"/>
          <p:nvPr/>
        </p:nvSpPr>
        <p:spPr>
          <a:xfrm>
            <a:off x="3886200" y="3145536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Gid Voss</a:t>
            </a:r>
            <a:endParaRPr lang="en-US" sz="860" dirty="0"/>
          </a:p>
        </p:txBody>
      </p:sp>
      <p:sp>
        <p:nvSpPr>
          <p:cNvPr id="53" name="Text 46"/>
          <p:cNvSpPr txBox="1"/>
          <p:nvPr/>
        </p:nvSpPr>
        <p:spPr>
          <a:xfrm>
            <a:off x="3502152" y="3346704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Bounded industrial laboratory for consequential questions no other unit can own.</a:t>
            </a:r>
            <a:endParaRPr lang="en-US" sz="765" dirty="0"/>
          </a:p>
        </p:txBody>
      </p:sp>
      <p:sp>
        <p:nvSpPr>
          <p:cNvPr id="54" name="Shape 47"/>
          <p:cNvSpPr/>
          <p:nvPr/>
        </p:nvSpPr>
        <p:spPr>
          <a:xfrm>
            <a:off x="6181344" y="2267712"/>
            <a:ext cx="2743200" cy="1389888"/>
          </a:xfrm>
          <a:prstGeom prst="roundRect">
            <a:avLst>
              <a:gd name="adj" fmla="val 2303"/>
            </a:avLst>
          </a:prstGeom>
          <a:solidFill>
            <a:srgbClr val="FFFFFF"/>
          </a:solidFill>
          <a:ln w="11430">
            <a:solidFill>
              <a:srgbClr val="D9D5CD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55" name="Shape 48"/>
          <p:cNvSpPr/>
          <p:nvPr/>
        </p:nvSpPr>
        <p:spPr>
          <a:xfrm>
            <a:off x="6181344" y="2267712"/>
            <a:ext cx="64008" cy="1389888"/>
          </a:xfrm>
          <a:prstGeom prst="rect">
            <a:avLst/>
          </a:prstGeom>
          <a:solidFill>
            <a:srgbClr val="2E6F96"/>
          </a:solidFill>
          <a:ln w="12700">
            <a:solidFill>
              <a:srgbClr val="2E6F96"/>
            </a:solidFill>
            <a:prstDash val="solid"/>
          </a:ln>
        </p:spPr>
      </p:sp>
      <p:pic>
        <p:nvPicPr>
          <p:cNvPr id="5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45936" y="2423160"/>
            <a:ext cx="393192" cy="393192"/>
          </a:xfrm>
          <a:prstGeom prst="rect">
            <a:avLst/>
          </a:prstGeom>
        </p:spPr>
      </p:pic>
      <p:sp>
        <p:nvSpPr>
          <p:cNvPr id="57" name="Text 49"/>
          <p:cNvSpPr txBox="1"/>
          <p:nvPr/>
        </p:nvSpPr>
        <p:spPr>
          <a:xfrm>
            <a:off x="6839712" y="240487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ATLAS MERIDIAN</a:t>
            </a:r>
            <a:endParaRPr lang="en-US" sz="1280" dirty="0"/>
          </a:p>
        </p:txBody>
      </p:sp>
      <p:sp>
        <p:nvSpPr>
          <p:cNvPr id="58" name="Text 50"/>
          <p:cNvSpPr txBox="1"/>
          <p:nvPr/>
        </p:nvSpPr>
        <p:spPr>
          <a:xfrm>
            <a:off x="6839712" y="2633472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0" b="1" spc="50" kern="0" dirty="0">
                <a:solidFill>
                  <a:srgbClr val="2E6F96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CONTROLLED 2026 BRIDGE</a:t>
            </a:r>
            <a:endParaRPr lang="en-US" sz="670" dirty="0"/>
          </a:p>
        </p:txBody>
      </p:sp>
      <p:sp>
        <p:nvSpPr>
          <p:cNvPr id="59" name="Shape 51"/>
          <p:cNvSpPr/>
          <p:nvPr/>
        </p:nvSpPr>
        <p:spPr>
          <a:xfrm>
            <a:off x="6336792" y="2880360"/>
            <a:ext cx="2432304" cy="0"/>
          </a:xfrm>
          <a:prstGeom prst="line">
            <a:avLst/>
          </a:prstGeom>
          <a:noFill/>
          <a:ln w="10160">
            <a:solidFill>
              <a:srgbClr val="D9D5CD"/>
            </a:solidFill>
            <a:prstDash val="solid"/>
          </a:ln>
        </p:spPr>
      </p:sp>
      <p:sp>
        <p:nvSpPr>
          <p:cNvPr id="60" name="Text 52"/>
          <p:cNvSpPr txBox="1"/>
          <p:nvPr/>
        </p:nvSpPr>
        <p:spPr>
          <a:xfrm>
            <a:off x="6355080" y="294436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b="1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HQ</a:t>
            </a:r>
            <a:endParaRPr lang="en-US" sz="710" dirty="0"/>
          </a:p>
        </p:txBody>
      </p:sp>
      <p:sp>
        <p:nvSpPr>
          <p:cNvPr id="61" name="Text 53"/>
          <p:cNvSpPr txBox="1"/>
          <p:nvPr/>
        </p:nvSpPr>
        <p:spPr>
          <a:xfrm>
            <a:off x="6739128" y="2926080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Sacramento, CA · bridge home</a:t>
            </a:r>
            <a:endParaRPr lang="en-US" sz="860" dirty="0"/>
          </a:p>
        </p:txBody>
      </p:sp>
      <p:sp>
        <p:nvSpPr>
          <p:cNvPr id="62" name="Text 54"/>
          <p:cNvSpPr txBox="1"/>
          <p:nvPr/>
        </p:nvSpPr>
        <p:spPr>
          <a:xfrm>
            <a:off x="6355080" y="316382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b="1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LEAD</a:t>
            </a:r>
            <a:endParaRPr lang="en-US" sz="710" dirty="0"/>
          </a:p>
        </p:txBody>
      </p:sp>
      <p:sp>
        <p:nvSpPr>
          <p:cNvPr id="63" name="Text 55"/>
          <p:cNvSpPr txBox="1"/>
          <p:nvPr/>
        </p:nvSpPr>
        <p:spPr>
          <a:xfrm>
            <a:off x="6739128" y="3145536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Simone Vale</a:t>
            </a:r>
            <a:endParaRPr lang="en-US" sz="860" dirty="0"/>
          </a:p>
        </p:txBody>
      </p:sp>
      <p:sp>
        <p:nvSpPr>
          <p:cNvPr id="64" name="Text 56"/>
          <p:cNvSpPr txBox="1"/>
          <p:nvPr/>
        </p:nvSpPr>
        <p:spPr>
          <a:xfrm>
            <a:off x="6355080" y="3346704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Investigative decision-support system across represented industrial evidence.</a:t>
            </a:r>
            <a:endParaRPr lang="en-US" sz="765" dirty="0"/>
          </a:p>
        </p:txBody>
      </p:sp>
      <p:sp>
        <p:nvSpPr>
          <p:cNvPr id="65" name="Shape 57"/>
          <p:cNvSpPr/>
          <p:nvPr/>
        </p:nvSpPr>
        <p:spPr>
          <a:xfrm>
            <a:off x="9034272" y="2267712"/>
            <a:ext cx="2743200" cy="1389888"/>
          </a:xfrm>
          <a:prstGeom prst="roundRect">
            <a:avLst>
              <a:gd name="adj" fmla="val 2303"/>
            </a:avLst>
          </a:prstGeom>
          <a:solidFill>
            <a:srgbClr val="FFFFFF"/>
          </a:solidFill>
          <a:ln w="11430">
            <a:solidFill>
              <a:srgbClr val="D9D5CD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66" name="Shape 58"/>
          <p:cNvSpPr/>
          <p:nvPr/>
        </p:nvSpPr>
        <p:spPr>
          <a:xfrm>
            <a:off x="9034272" y="2267712"/>
            <a:ext cx="64008" cy="1389888"/>
          </a:xfrm>
          <a:prstGeom prst="rect">
            <a:avLst/>
          </a:prstGeom>
          <a:solidFill>
            <a:srgbClr val="C38B1F"/>
          </a:solidFill>
          <a:ln w="12700">
            <a:solidFill>
              <a:srgbClr val="C38B1F"/>
            </a:solidFill>
            <a:prstDash val="solid"/>
          </a:ln>
        </p:spPr>
      </p:sp>
      <p:pic>
        <p:nvPicPr>
          <p:cNvPr id="6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198864" y="2423160"/>
            <a:ext cx="393192" cy="393192"/>
          </a:xfrm>
          <a:prstGeom prst="rect">
            <a:avLst/>
          </a:prstGeom>
        </p:spPr>
      </p:pic>
      <p:sp>
        <p:nvSpPr>
          <p:cNvPr id="68" name="Text 59"/>
          <p:cNvSpPr txBox="1"/>
          <p:nvPr/>
        </p:nvSpPr>
        <p:spPr>
          <a:xfrm>
            <a:off x="9692640" y="240487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PALE SUN / RED WASH</a:t>
            </a:r>
            <a:endParaRPr lang="en-US" sz="1280" dirty="0"/>
          </a:p>
        </p:txBody>
      </p:sp>
      <p:sp>
        <p:nvSpPr>
          <p:cNvPr id="69" name="Text 60"/>
          <p:cNvSpPr txBox="1"/>
          <p:nvPr/>
        </p:nvSpPr>
        <p:spPr>
          <a:xfrm>
            <a:off x="9692640" y="2633472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0" b="1" spc="50" kern="0" dirty="0">
                <a:solidFill>
                  <a:srgbClr val="C38B1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ACTIVE OPERATING VENTURE</a:t>
            </a:r>
            <a:endParaRPr lang="en-US" sz="670" dirty="0"/>
          </a:p>
        </p:txBody>
      </p:sp>
      <p:sp>
        <p:nvSpPr>
          <p:cNvPr id="70" name="Shape 61"/>
          <p:cNvSpPr/>
          <p:nvPr/>
        </p:nvSpPr>
        <p:spPr>
          <a:xfrm>
            <a:off x="9189720" y="2880360"/>
            <a:ext cx="2432304" cy="0"/>
          </a:xfrm>
          <a:prstGeom prst="line">
            <a:avLst/>
          </a:prstGeom>
          <a:noFill/>
          <a:ln w="10160">
            <a:solidFill>
              <a:srgbClr val="D9D5CD"/>
            </a:solidFill>
            <a:prstDash val="solid"/>
          </a:ln>
        </p:spPr>
      </p:sp>
      <p:sp>
        <p:nvSpPr>
          <p:cNvPr id="71" name="Text 62"/>
          <p:cNvSpPr txBox="1"/>
          <p:nvPr/>
        </p:nvSpPr>
        <p:spPr>
          <a:xfrm>
            <a:off x="9208008" y="294436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b="1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HQ</a:t>
            </a:r>
            <a:endParaRPr lang="en-US" sz="710" dirty="0"/>
          </a:p>
        </p:txBody>
      </p:sp>
      <p:sp>
        <p:nvSpPr>
          <p:cNvPr id="72" name="Text 63"/>
          <p:cNvSpPr txBox="1"/>
          <p:nvPr/>
        </p:nvSpPr>
        <p:spPr>
          <a:xfrm>
            <a:off x="9592056" y="2926080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Red Wash, Wyoming · operating center</a:t>
            </a:r>
            <a:endParaRPr lang="en-US" sz="860" dirty="0"/>
          </a:p>
        </p:txBody>
      </p:sp>
      <p:sp>
        <p:nvSpPr>
          <p:cNvPr id="73" name="Text 64"/>
          <p:cNvSpPr txBox="1"/>
          <p:nvPr/>
        </p:nvSpPr>
        <p:spPr>
          <a:xfrm>
            <a:off x="9208008" y="316382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b="1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LEAD</a:t>
            </a:r>
            <a:endParaRPr lang="en-US" sz="710" dirty="0"/>
          </a:p>
        </p:txBody>
      </p:sp>
      <p:sp>
        <p:nvSpPr>
          <p:cNvPr id="74" name="Text 65"/>
          <p:cNvSpPr txBox="1"/>
          <p:nvPr/>
        </p:nvSpPr>
        <p:spPr>
          <a:xfrm>
            <a:off x="9592056" y="3145536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Mari Varela</a:t>
            </a:r>
            <a:endParaRPr lang="en-US" sz="860" dirty="0"/>
          </a:p>
        </p:txBody>
      </p:sp>
      <p:sp>
        <p:nvSpPr>
          <p:cNvPr id="75" name="Text 66"/>
          <p:cNvSpPr txBox="1"/>
          <p:nvPr/>
        </p:nvSpPr>
        <p:spPr>
          <a:xfrm>
            <a:off x="9208008" y="3346704"/>
            <a:ext cx="2395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Uranium operating business that owns and operates Red Wash Mine.</a:t>
            </a:r>
            <a:endParaRPr lang="en-US" sz="765" dirty="0"/>
          </a:p>
        </p:txBody>
      </p:sp>
      <p:sp>
        <p:nvSpPr>
          <p:cNvPr id="76" name="Shape 67"/>
          <p:cNvSpPr/>
          <p:nvPr/>
        </p:nvSpPr>
        <p:spPr>
          <a:xfrm>
            <a:off x="1042416" y="4187952"/>
            <a:ext cx="3063240" cy="1389888"/>
          </a:xfrm>
          <a:prstGeom prst="roundRect">
            <a:avLst>
              <a:gd name="adj" fmla="val 2303"/>
            </a:avLst>
          </a:prstGeom>
          <a:solidFill>
            <a:srgbClr val="FFFFFF"/>
          </a:solidFill>
          <a:ln w="11430">
            <a:solidFill>
              <a:srgbClr val="D9D5CD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77" name="Shape 68"/>
          <p:cNvSpPr/>
          <p:nvPr/>
        </p:nvSpPr>
        <p:spPr>
          <a:xfrm>
            <a:off x="1042416" y="4187952"/>
            <a:ext cx="64008" cy="1389888"/>
          </a:xfrm>
          <a:prstGeom prst="rect">
            <a:avLst/>
          </a:prstGeom>
          <a:solidFill>
            <a:srgbClr val="C58A14"/>
          </a:solidFill>
          <a:ln w="12700">
            <a:solidFill>
              <a:srgbClr val="C58A14"/>
            </a:solidFill>
            <a:prstDash val="solid"/>
          </a:ln>
        </p:spPr>
      </p:sp>
      <p:pic>
        <p:nvPicPr>
          <p:cNvPr id="78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07008" y="4343400"/>
            <a:ext cx="393192" cy="393192"/>
          </a:xfrm>
          <a:prstGeom prst="rect">
            <a:avLst/>
          </a:prstGeom>
        </p:spPr>
      </p:pic>
      <p:sp>
        <p:nvSpPr>
          <p:cNvPr id="79" name="Text 69"/>
          <p:cNvSpPr txBox="1"/>
          <p:nvPr/>
        </p:nvSpPr>
        <p:spPr>
          <a:xfrm>
            <a:off x="1700784" y="432511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PROJECT CRADLE</a:t>
            </a:r>
            <a:endParaRPr lang="en-US" sz="1280" dirty="0"/>
          </a:p>
        </p:txBody>
      </p:sp>
      <p:sp>
        <p:nvSpPr>
          <p:cNvPr id="80" name="Text 70"/>
          <p:cNvSpPr txBox="1"/>
          <p:nvPr/>
        </p:nvSpPr>
        <p:spPr>
          <a:xfrm>
            <a:off x="1700784" y="4553712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0" b="1" spc="50" kern="0" dirty="0">
                <a:solidFill>
                  <a:srgbClr val="C58A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ACTIVE VENTURE</a:t>
            </a:r>
            <a:endParaRPr lang="en-US" sz="670" dirty="0"/>
          </a:p>
        </p:txBody>
      </p:sp>
      <p:sp>
        <p:nvSpPr>
          <p:cNvPr id="81" name="Shape 71"/>
          <p:cNvSpPr/>
          <p:nvPr/>
        </p:nvSpPr>
        <p:spPr>
          <a:xfrm>
            <a:off x="1197864" y="4800600"/>
            <a:ext cx="2752344" cy="0"/>
          </a:xfrm>
          <a:prstGeom prst="line">
            <a:avLst/>
          </a:prstGeom>
          <a:noFill/>
          <a:ln w="10160">
            <a:solidFill>
              <a:srgbClr val="D9D5CD"/>
            </a:solidFill>
            <a:prstDash val="solid"/>
          </a:ln>
        </p:spPr>
      </p:sp>
      <p:sp>
        <p:nvSpPr>
          <p:cNvPr id="82" name="Text 72"/>
          <p:cNvSpPr txBox="1"/>
          <p:nvPr/>
        </p:nvSpPr>
        <p:spPr>
          <a:xfrm>
            <a:off x="1216152" y="486460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b="1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HQ</a:t>
            </a:r>
            <a:endParaRPr lang="en-US" sz="710" dirty="0"/>
          </a:p>
        </p:txBody>
      </p:sp>
      <p:sp>
        <p:nvSpPr>
          <p:cNvPr id="83" name="Text 73"/>
          <p:cNvSpPr txBox="1"/>
          <p:nvPr/>
        </p:nvSpPr>
        <p:spPr>
          <a:xfrm>
            <a:off x="1600200" y="4846320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OPEN · host-site dependent</a:t>
            </a:r>
            <a:endParaRPr lang="en-US" sz="860" dirty="0"/>
          </a:p>
        </p:txBody>
      </p:sp>
      <p:sp>
        <p:nvSpPr>
          <p:cNvPr id="84" name="Text 74"/>
          <p:cNvSpPr txBox="1"/>
          <p:nvPr/>
        </p:nvSpPr>
        <p:spPr>
          <a:xfrm>
            <a:off x="1216152" y="508406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b="1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LEAD</a:t>
            </a:r>
            <a:endParaRPr lang="en-US" sz="710" dirty="0"/>
          </a:p>
        </p:txBody>
      </p:sp>
      <p:sp>
        <p:nvSpPr>
          <p:cNvPr id="85" name="Text 75"/>
          <p:cNvSpPr txBox="1"/>
          <p:nvPr/>
        </p:nvSpPr>
        <p:spPr>
          <a:xfrm>
            <a:off x="1600200" y="5065776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Kenji Arakawa</a:t>
            </a:r>
            <a:endParaRPr lang="en-US" sz="860" dirty="0"/>
          </a:p>
        </p:txBody>
      </p:sp>
      <p:sp>
        <p:nvSpPr>
          <p:cNvPr id="86" name="Text 76"/>
          <p:cNvSpPr txBox="1"/>
          <p:nvPr/>
        </p:nvSpPr>
        <p:spPr>
          <a:xfrm>
            <a:off x="1216152" y="5266944"/>
            <a:ext cx="2715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Rare-earth recovery through bolt-on interventions in existing process streams.</a:t>
            </a:r>
            <a:endParaRPr lang="en-US" sz="765" dirty="0"/>
          </a:p>
        </p:txBody>
      </p:sp>
      <p:sp>
        <p:nvSpPr>
          <p:cNvPr id="87" name="Shape 77"/>
          <p:cNvSpPr/>
          <p:nvPr/>
        </p:nvSpPr>
        <p:spPr>
          <a:xfrm>
            <a:off x="4562856" y="4187952"/>
            <a:ext cx="3063240" cy="1389888"/>
          </a:xfrm>
          <a:prstGeom prst="roundRect">
            <a:avLst>
              <a:gd name="adj" fmla="val 2303"/>
            </a:avLst>
          </a:prstGeom>
          <a:solidFill>
            <a:srgbClr val="FFFFFF"/>
          </a:solidFill>
          <a:ln w="11430">
            <a:solidFill>
              <a:srgbClr val="D9D5CD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88" name="Shape 78"/>
          <p:cNvSpPr/>
          <p:nvPr/>
        </p:nvSpPr>
        <p:spPr>
          <a:xfrm>
            <a:off x="4562856" y="4187952"/>
            <a:ext cx="64008" cy="1389888"/>
          </a:xfrm>
          <a:prstGeom prst="rect">
            <a:avLst/>
          </a:prstGeom>
          <a:solidFill>
            <a:srgbClr val="C45124"/>
          </a:solidFill>
          <a:ln w="12700">
            <a:solidFill>
              <a:srgbClr val="C45124"/>
            </a:solidFill>
            <a:prstDash val="solid"/>
          </a:ln>
        </p:spPr>
      </p:sp>
      <p:pic>
        <p:nvPicPr>
          <p:cNvPr id="8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727448" y="4343400"/>
            <a:ext cx="393192" cy="393192"/>
          </a:xfrm>
          <a:prstGeom prst="rect">
            <a:avLst/>
          </a:prstGeom>
        </p:spPr>
      </p:pic>
      <p:sp>
        <p:nvSpPr>
          <p:cNvPr id="90" name="Text 79"/>
          <p:cNvSpPr txBox="1"/>
          <p:nvPr/>
        </p:nvSpPr>
        <p:spPr>
          <a:xfrm>
            <a:off x="5221224" y="432511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AMERICAN RESOURCE UTILITY</a:t>
            </a:r>
            <a:endParaRPr lang="en-US" sz="1280" dirty="0"/>
          </a:p>
        </p:txBody>
      </p:sp>
      <p:sp>
        <p:nvSpPr>
          <p:cNvPr id="91" name="Text 80"/>
          <p:cNvSpPr txBox="1"/>
          <p:nvPr/>
        </p:nvSpPr>
        <p:spPr>
          <a:xfrm>
            <a:off x="5221224" y="4553712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0" b="1" spc="50" kern="0" dirty="0">
                <a:solidFill>
                  <a:srgbClr val="C451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ACTIVE · INTEGRATION CONTINUING</a:t>
            </a:r>
            <a:endParaRPr lang="en-US" sz="670" dirty="0"/>
          </a:p>
        </p:txBody>
      </p:sp>
      <p:sp>
        <p:nvSpPr>
          <p:cNvPr id="92" name="Shape 81"/>
          <p:cNvSpPr/>
          <p:nvPr/>
        </p:nvSpPr>
        <p:spPr>
          <a:xfrm>
            <a:off x="4718304" y="4800600"/>
            <a:ext cx="2752344" cy="0"/>
          </a:xfrm>
          <a:prstGeom prst="line">
            <a:avLst/>
          </a:prstGeom>
          <a:noFill/>
          <a:ln w="10160">
            <a:solidFill>
              <a:srgbClr val="D9D5CD"/>
            </a:solidFill>
            <a:prstDash val="solid"/>
          </a:ln>
        </p:spPr>
      </p:sp>
      <p:sp>
        <p:nvSpPr>
          <p:cNvPr id="93" name="Text 82"/>
          <p:cNvSpPr txBox="1"/>
          <p:nvPr/>
        </p:nvSpPr>
        <p:spPr>
          <a:xfrm>
            <a:off x="4736592" y="486460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b="1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HQ</a:t>
            </a:r>
            <a:endParaRPr lang="en-US" sz="710" dirty="0"/>
          </a:p>
        </p:txBody>
      </p:sp>
      <p:sp>
        <p:nvSpPr>
          <p:cNvPr id="94" name="Text 83"/>
          <p:cNvSpPr txBox="1"/>
          <p:nvPr/>
        </p:nvSpPr>
        <p:spPr>
          <a:xfrm>
            <a:off x="5120640" y="4846320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OPEN · legacy logistics network</a:t>
            </a:r>
            <a:endParaRPr lang="en-US" sz="860" dirty="0"/>
          </a:p>
        </p:txBody>
      </p:sp>
      <p:sp>
        <p:nvSpPr>
          <p:cNvPr id="95" name="Text 84"/>
          <p:cNvSpPr txBox="1"/>
          <p:nvPr/>
        </p:nvSpPr>
        <p:spPr>
          <a:xfrm>
            <a:off x="4736592" y="508406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b="1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LEAD</a:t>
            </a:r>
            <a:endParaRPr lang="en-US" sz="710" dirty="0"/>
          </a:p>
        </p:txBody>
      </p:sp>
      <p:sp>
        <p:nvSpPr>
          <p:cNvPr id="96" name="Text 85"/>
          <p:cNvSpPr txBox="1"/>
          <p:nvPr/>
        </p:nvSpPr>
        <p:spPr>
          <a:xfrm>
            <a:off x="5120640" y="5065776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8B8E9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OPEN</a:t>
            </a:r>
            <a:endParaRPr lang="en-US" sz="860" dirty="0"/>
          </a:p>
        </p:txBody>
      </p:sp>
      <p:sp>
        <p:nvSpPr>
          <p:cNvPr id="97" name="Text 86"/>
          <p:cNvSpPr txBox="1"/>
          <p:nvPr/>
        </p:nvSpPr>
        <p:spPr>
          <a:xfrm>
            <a:off x="4736592" y="5266944"/>
            <a:ext cx="2715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Acquired resource-logistics operator; BS&amp;T is its railway component.</a:t>
            </a:r>
            <a:endParaRPr lang="en-US" sz="765" dirty="0"/>
          </a:p>
        </p:txBody>
      </p:sp>
      <p:sp>
        <p:nvSpPr>
          <p:cNvPr id="98" name="Shape 87"/>
          <p:cNvSpPr/>
          <p:nvPr/>
        </p:nvSpPr>
        <p:spPr>
          <a:xfrm>
            <a:off x="8083296" y="4187952"/>
            <a:ext cx="3063240" cy="1389888"/>
          </a:xfrm>
          <a:prstGeom prst="roundRect">
            <a:avLst>
              <a:gd name="adj" fmla="val 2303"/>
            </a:avLst>
          </a:prstGeom>
          <a:solidFill>
            <a:srgbClr val="FFFFFF"/>
          </a:solidFill>
          <a:ln w="11430">
            <a:solidFill>
              <a:srgbClr val="D9D5CD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99" name="Shape 88"/>
          <p:cNvSpPr/>
          <p:nvPr/>
        </p:nvSpPr>
        <p:spPr>
          <a:xfrm>
            <a:off x="8083296" y="4187952"/>
            <a:ext cx="64008" cy="1389888"/>
          </a:xfrm>
          <a:prstGeom prst="rect">
            <a:avLst/>
          </a:prstGeom>
          <a:solidFill>
            <a:srgbClr val="456C98"/>
          </a:solidFill>
          <a:ln w="12700">
            <a:solidFill>
              <a:srgbClr val="456C98"/>
            </a:solidFill>
            <a:prstDash val="solid"/>
          </a:ln>
        </p:spPr>
      </p:sp>
      <p:pic>
        <p:nvPicPr>
          <p:cNvPr id="100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247888" y="4343400"/>
            <a:ext cx="393192" cy="393192"/>
          </a:xfrm>
          <a:prstGeom prst="rect">
            <a:avLst/>
          </a:prstGeom>
        </p:spPr>
      </p:pic>
      <p:sp>
        <p:nvSpPr>
          <p:cNvPr id="101" name="Text 89"/>
          <p:cNvSpPr txBox="1"/>
          <p:nvPr/>
        </p:nvSpPr>
        <p:spPr>
          <a:xfrm>
            <a:off x="8741664" y="432511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ADVISORY</a:t>
            </a:r>
            <a:endParaRPr lang="en-US" sz="1280" dirty="0"/>
          </a:p>
        </p:txBody>
      </p:sp>
      <p:sp>
        <p:nvSpPr>
          <p:cNvPr id="102" name="Text 90"/>
          <p:cNvSpPr txBox="1"/>
          <p:nvPr/>
        </p:nvSpPr>
        <p:spPr>
          <a:xfrm>
            <a:off x="8741664" y="4553712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0" b="1" spc="50" kern="0" dirty="0">
                <a:solidFill>
                  <a:srgbClr val="456C9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EMERGING</a:t>
            </a:r>
            <a:endParaRPr lang="en-US" sz="670" dirty="0"/>
          </a:p>
        </p:txBody>
      </p:sp>
      <p:sp>
        <p:nvSpPr>
          <p:cNvPr id="103" name="Shape 91"/>
          <p:cNvSpPr/>
          <p:nvPr/>
        </p:nvSpPr>
        <p:spPr>
          <a:xfrm>
            <a:off x="8238744" y="4800600"/>
            <a:ext cx="2752344" cy="0"/>
          </a:xfrm>
          <a:prstGeom prst="line">
            <a:avLst/>
          </a:prstGeom>
          <a:noFill/>
          <a:ln w="10160">
            <a:solidFill>
              <a:srgbClr val="D9D5CD"/>
            </a:solidFill>
            <a:prstDash val="solid"/>
          </a:ln>
        </p:spPr>
      </p:sp>
      <p:sp>
        <p:nvSpPr>
          <p:cNvPr id="104" name="Text 92"/>
          <p:cNvSpPr txBox="1"/>
          <p:nvPr/>
        </p:nvSpPr>
        <p:spPr>
          <a:xfrm>
            <a:off x="8257032" y="486460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b="1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HQ</a:t>
            </a:r>
            <a:endParaRPr lang="en-US" sz="710" dirty="0"/>
          </a:p>
        </p:txBody>
      </p:sp>
      <p:sp>
        <p:nvSpPr>
          <p:cNvPr id="105" name="Text 93"/>
          <p:cNvSpPr txBox="1"/>
          <p:nvPr/>
        </p:nvSpPr>
        <p:spPr>
          <a:xfrm>
            <a:off x="8641080" y="4846320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OPEN</a:t>
            </a:r>
            <a:endParaRPr lang="en-US" sz="860" dirty="0"/>
          </a:p>
        </p:txBody>
      </p:sp>
      <p:sp>
        <p:nvSpPr>
          <p:cNvPr id="106" name="Text 94"/>
          <p:cNvSpPr txBox="1"/>
          <p:nvPr/>
        </p:nvSpPr>
        <p:spPr>
          <a:xfrm>
            <a:off x="8257032" y="508406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b="1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LEAD</a:t>
            </a:r>
            <a:endParaRPr lang="en-US" sz="710" dirty="0"/>
          </a:p>
        </p:txBody>
      </p:sp>
      <p:sp>
        <p:nvSpPr>
          <p:cNvPr id="107" name="Text 95"/>
          <p:cNvSpPr txBox="1"/>
          <p:nvPr/>
        </p:nvSpPr>
        <p:spPr>
          <a:xfrm>
            <a:off x="8641080" y="5065776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8B8E9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OPEN</a:t>
            </a:r>
            <a:endParaRPr lang="en-US" sz="860" dirty="0"/>
          </a:p>
        </p:txBody>
      </p:sp>
      <p:sp>
        <p:nvSpPr>
          <p:cNvPr id="108" name="Text 96"/>
          <p:cNvSpPr txBox="1"/>
          <p:nvPr/>
        </p:nvSpPr>
        <p:spPr>
          <a:xfrm>
            <a:off x="8257032" y="5266944"/>
            <a:ext cx="2715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Emerging operator-facing practice transferring Sable Harbor methods.</a:t>
            </a:r>
            <a:endParaRPr lang="en-US" sz="765" dirty="0"/>
          </a:p>
        </p:txBody>
      </p:sp>
      <p:sp>
        <p:nvSpPr>
          <p:cNvPr id="109" name="Shape 97"/>
          <p:cNvSpPr/>
          <p:nvPr/>
        </p:nvSpPr>
        <p:spPr>
          <a:xfrm>
            <a:off x="658368" y="5897880"/>
            <a:ext cx="10881360" cy="310896"/>
          </a:xfrm>
          <a:prstGeom prst="roundRect">
            <a:avLst>
              <a:gd name="adj" fmla="val 7353"/>
            </a:avLst>
          </a:prstGeom>
          <a:solidFill>
            <a:srgbClr val="FCFBF8"/>
          </a:solidFill>
          <a:ln w="10160">
            <a:solidFill>
              <a:srgbClr val="D9D5CD"/>
            </a:solidFill>
            <a:prstDash val="solid"/>
          </a:ln>
        </p:spPr>
      </p:sp>
      <p:sp>
        <p:nvSpPr>
          <p:cNvPr id="110" name="Shape 98"/>
          <p:cNvSpPr/>
          <p:nvPr/>
        </p:nvSpPr>
        <p:spPr>
          <a:xfrm>
            <a:off x="658368" y="5897880"/>
            <a:ext cx="64008" cy="310896"/>
          </a:xfrm>
          <a:prstGeom prst="rect">
            <a:avLst/>
          </a:prstGeom>
          <a:solidFill>
            <a:srgbClr val="C45124"/>
          </a:solidFill>
          <a:ln w="12700">
            <a:solidFill>
              <a:srgbClr val="C45124"/>
            </a:solidFill>
            <a:prstDash val="solid"/>
          </a:ln>
        </p:spPr>
      </p:sp>
      <p:sp>
        <p:nvSpPr>
          <p:cNvPr id="111" name="Text 99"/>
          <p:cNvSpPr txBox="1"/>
          <p:nvPr/>
        </p:nvSpPr>
        <p:spPr>
          <a:xfrm>
            <a:off x="841248" y="5925312"/>
            <a:ext cx="10561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HQ labels identify the best-supported operating or organizational center. Legal headquarters and detailed office allocations remain OPEN where noted.</a:t>
            </a:r>
            <a:endParaRPr lang="en-US" sz="860" dirty="0"/>
          </a:p>
        </p:txBody>
      </p:sp>
      <p:sp>
        <p:nvSpPr>
          <p:cNvPr id="112" name="Text 100"/>
          <p:cNvSpPr txBox="1"/>
          <p:nvPr/>
        </p:nvSpPr>
        <p:spPr>
          <a:xfrm>
            <a:off x="438912" y="6510528"/>
            <a:ext cx="4114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Canon date: August 31, 2026</a:t>
            </a:r>
            <a:endParaRPr lang="en-US" sz="760" dirty="0"/>
          </a:p>
        </p:txBody>
      </p:sp>
      <p:sp>
        <p:nvSpPr>
          <p:cNvPr id="113" name="Text 101"/>
          <p:cNvSpPr txBox="1"/>
          <p:nvPr/>
        </p:nvSpPr>
        <p:spPr>
          <a:xfrm>
            <a:off x="4572000" y="647395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Solid line = unit leadership or containment  •  Dashed line = cross-company interface  •  OPEN = unresolved by canon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77A7D"/>
                </a:solidFill>
                <a:latin typeface="Inter Display"/>
                <a:ea typeface="Inter Display"/>
                <a:cs typeface="Inter Display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1480" y="210312"/>
            <a:ext cx="347472" cy="34747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8288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spc="120" kern="0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SABLE HARBOR</a:t>
            </a:r>
            <a:endParaRPr lang="en-US" sz="135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40233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70" spc="110" kern="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ORGANIZATION BRIEFING</a:t>
            </a:r>
            <a:endParaRPr lang="en-US" sz="770" dirty="0"/>
          </a:p>
        </p:txBody>
      </p:sp>
      <p:sp>
        <p:nvSpPr>
          <p:cNvPr id="5" name="Shape 2"/>
          <p:cNvSpPr/>
          <p:nvPr/>
        </p:nvSpPr>
        <p:spPr>
          <a:xfrm>
            <a:off x="2468880" y="182880"/>
            <a:ext cx="0" cy="393192"/>
          </a:xfrm>
          <a:prstGeom prst="line">
            <a:avLst/>
          </a:prstGeom>
          <a:noFill/>
          <a:ln w="12700">
            <a:solidFill>
              <a:srgbClr val="D9D5CD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24912" y="173736"/>
            <a:ext cx="393192" cy="39319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218688" y="137160"/>
            <a:ext cx="8138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spc="60" kern="0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FOUNDRY / FOUNDRY FIELD</a:t>
            </a:r>
            <a:endParaRPr lang="en-US" sz="2300" dirty="0"/>
          </a:p>
        </p:txBody>
      </p:sp>
      <p:sp>
        <p:nvSpPr>
          <p:cNvPr id="8" name="Text 4"/>
          <p:cNvSpPr txBox="1"/>
          <p:nvPr/>
        </p:nvSpPr>
        <p:spPr>
          <a:xfrm>
            <a:off x="3218688" y="448056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Functional leadership, product interfaces, and application families</a:t>
            </a:r>
            <a:endParaRPr lang="en-US" sz="940" dirty="0"/>
          </a:p>
        </p:txBody>
      </p:sp>
      <p:sp>
        <p:nvSpPr>
          <p:cNvPr id="9" name="Shape 5"/>
          <p:cNvSpPr/>
          <p:nvPr/>
        </p:nvSpPr>
        <p:spPr>
          <a:xfrm>
            <a:off x="3218688" y="658368"/>
            <a:ext cx="8156448" cy="0"/>
          </a:xfrm>
          <a:prstGeom prst="line">
            <a:avLst/>
          </a:prstGeom>
          <a:noFill/>
          <a:ln w="30480">
            <a:solidFill>
              <a:srgbClr val="C45124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38912" y="841248"/>
            <a:ext cx="11320272" cy="749808"/>
          </a:xfrm>
          <a:prstGeom prst="roundRect">
            <a:avLst>
              <a:gd name="adj" fmla="val 6098"/>
            </a:avLst>
          </a:prstGeom>
          <a:solidFill>
            <a:srgbClr val="FCFBF8"/>
          </a:solidFill>
          <a:ln w="12700">
            <a:solidFill>
              <a:srgbClr val="D9D5CD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38912" y="841248"/>
            <a:ext cx="73152" cy="749808"/>
          </a:xfrm>
          <a:prstGeom prst="rect">
            <a:avLst/>
          </a:prstGeom>
          <a:solidFill>
            <a:srgbClr val="C45124"/>
          </a:solidFill>
          <a:ln w="12700">
            <a:solidFill>
              <a:srgbClr val="C45124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94944" y="950976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b="1" spc="80" kern="0" dirty="0">
                <a:solidFill>
                  <a:srgbClr val="C451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HQ / OPERATING CENTER</a:t>
            </a:r>
            <a:endParaRPr lang="en-US" sz="710" dirty="0"/>
          </a:p>
        </p:txBody>
      </p:sp>
      <p:sp>
        <p:nvSpPr>
          <p:cNvPr id="13" name="Text 9"/>
          <p:cNvSpPr txBox="1"/>
          <p:nvPr/>
        </p:nvSpPr>
        <p:spPr>
          <a:xfrm>
            <a:off x="694944" y="1124712"/>
            <a:ext cx="2331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Sacramento, California</a:t>
            </a:r>
            <a:endParaRPr lang="en-US" sz="103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Organizational home</a:t>
            </a:r>
            <a:endParaRPr lang="en-US" sz="1030" dirty="0"/>
          </a:p>
        </p:txBody>
      </p:sp>
      <p:sp>
        <p:nvSpPr>
          <p:cNvPr id="14" name="Text 10"/>
          <p:cNvSpPr txBox="1"/>
          <p:nvPr/>
        </p:nvSpPr>
        <p:spPr>
          <a:xfrm>
            <a:off x="3118104" y="950976"/>
            <a:ext cx="5138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b="1" spc="80" kern="0" dirty="0">
                <a:solidFill>
                  <a:srgbClr val="C451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BUSINESS</a:t>
            </a:r>
            <a:endParaRPr lang="en-US" sz="710" dirty="0"/>
          </a:p>
        </p:txBody>
      </p:sp>
      <p:sp>
        <p:nvSpPr>
          <p:cNvPr id="15" name="Text 11"/>
          <p:cNvSpPr txBox="1"/>
          <p:nvPr/>
        </p:nvSpPr>
        <p:spPr>
          <a:xfrm>
            <a:off x="3118104" y="1124712"/>
            <a:ext cx="51389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Foundry is the relationship-and-meaning substrate. Foundry Field is the deployable operational data-integration and workflow product.</a:t>
            </a:r>
            <a:endParaRPr lang="en-US" sz="1030" dirty="0"/>
          </a:p>
        </p:txBody>
      </p:sp>
      <p:sp>
        <p:nvSpPr>
          <p:cNvPr id="16" name="Text 12"/>
          <p:cNvSpPr txBox="1"/>
          <p:nvPr/>
        </p:nvSpPr>
        <p:spPr>
          <a:xfrm>
            <a:off x="8366760" y="950976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b="1" spc="80" kern="0" dirty="0">
                <a:solidFill>
                  <a:srgbClr val="C451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CURRENT LEAD</a:t>
            </a:r>
            <a:endParaRPr lang="en-US" sz="710" dirty="0"/>
          </a:p>
        </p:txBody>
      </p:sp>
      <p:sp>
        <p:nvSpPr>
          <p:cNvPr id="17" name="Text 13"/>
          <p:cNvSpPr txBox="1"/>
          <p:nvPr/>
        </p:nvSpPr>
        <p:spPr>
          <a:xfrm>
            <a:off x="8366760" y="1124712"/>
            <a:ext cx="1600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Priya Raman</a:t>
            </a:r>
            <a:endParaRPr lang="en-US" sz="1030" dirty="0"/>
          </a:p>
        </p:txBody>
      </p:sp>
      <p:sp>
        <p:nvSpPr>
          <p:cNvPr id="18" name="Text 14"/>
          <p:cNvSpPr txBox="1"/>
          <p:nvPr/>
        </p:nvSpPr>
        <p:spPr>
          <a:xfrm>
            <a:off x="10085832" y="950976"/>
            <a:ext cx="1426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b="1" spc="80" kern="0" dirty="0">
                <a:solidFill>
                  <a:srgbClr val="C451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STATUS</a:t>
            </a:r>
            <a:endParaRPr lang="en-US" sz="710" dirty="0"/>
          </a:p>
        </p:txBody>
      </p:sp>
      <p:sp>
        <p:nvSpPr>
          <p:cNvPr id="19" name="Text 15"/>
          <p:cNvSpPr txBox="1"/>
          <p:nvPr/>
        </p:nvSpPr>
        <p:spPr>
          <a:xfrm>
            <a:off x="10085832" y="1124712"/>
            <a:ext cx="14264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Mature commercial platform</a:t>
            </a:r>
            <a:endParaRPr lang="en-US" sz="1030" dirty="0"/>
          </a:p>
        </p:txBody>
      </p:sp>
      <p:sp>
        <p:nvSpPr>
          <p:cNvPr id="20" name="Shape 16"/>
          <p:cNvSpPr/>
          <p:nvPr/>
        </p:nvSpPr>
        <p:spPr>
          <a:xfrm>
            <a:off x="4206240" y="1874520"/>
            <a:ext cx="3767328" cy="713232"/>
          </a:xfrm>
          <a:prstGeom prst="roundRect">
            <a:avLst>
              <a:gd name="adj" fmla="val 4487"/>
            </a:avLst>
          </a:prstGeom>
          <a:solidFill>
            <a:srgbClr val="FFFFFF"/>
          </a:solidFill>
          <a:ln w="10160">
            <a:solidFill>
              <a:srgbClr val="101214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206240" y="1874520"/>
            <a:ext cx="50292" cy="713232"/>
          </a:xfrm>
          <a:prstGeom prst="rect">
            <a:avLst/>
          </a:prstGeom>
          <a:solidFill>
            <a:srgbClr val="C45124"/>
          </a:solidFill>
          <a:ln w="12700">
            <a:solidFill>
              <a:srgbClr val="C45124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52544" y="2039112"/>
            <a:ext cx="384048" cy="38404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864608" y="1975104"/>
            <a:ext cx="2944368" cy="2710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2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FOUNDRY / FOUNDRY FIELD</a:t>
            </a:r>
            <a:endParaRPr lang="en-US" sz="1520" dirty="0"/>
          </a:p>
        </p:txBody>
      </p:sp>
      <p:sp>
        <p:nvSpPr>
          <p:cNvPr id="24" name="Text 19"/>
          <p:cNvSpPr txBox="1"/>
          <p:nvPr/>
        </p:nvSpPr>
        <p:spPr>
          <a:xfrm>
            <a:off x="4864608" y="2216871"/>
            <a:ext cx="2944368" cy="313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1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Platform and commercial product</a:t>
            </a:r>
            <a:endParaRPr lang="en-US" sz="1010" dirty="0"/>
          </a:p>
        </p:txBody>
      </p:sp>
      <p:sp>
        <p:nvSpPr>
          <p:cNvPr id="25" name="Shape 20"/>
          <p:cNvSpPr/>
          <p:nvPr/>
        </p:nvSpPr>
        <p:spPr>
          <a:xfrm>
            <a:off x="4480560" y="2852928"/>
            <a:ext cx="3218688" cy="6858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0160">
            <a:solidFill>
              <a:srgbClr val="101214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480560" y="2852928"/>
            <a:ext cx="50292" cy="685800"/>
          </a:xfrm>
          <a:prstGeom prst="rect">
            <a:avLst/>
          </a:prstGeom>
          <a:solidFill>
            <a:srgbClr val="C45124"/>
          </a:solidFill>
          <a:ln w="12700">
            <a:solidFill>
              <a:srgbClr val="C45124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4663440" y="2953512"/>
            <a:ext cx="287121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PRIYA RAMAN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4663440" y="3182112"/>
            <a:ext cx="28712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1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Product authority</a:t>
            </a:r>
            <a:endParaRPr lang="en-US" sz="1010" dirty="0"/>
          </a:p>
        </p:txBody>
      </p:sp>
      <p:sp>
        <p:nvSpPr>
          <p:cNvPr id="29" name="Shape 24"/>
          <p:cNvSpPr/>
          <p:nvPr/>
        </p:nvSpPr>
        <p:spPr>
          <a:xfrm>
            <a:off x="6089904" y="2587752"/>
            <a:ext cx="0" cy="265176"/>
          </a:xfrm>
          <a:prstGeom prst="line">
            <a:avLst/>
          </a:prstGeom>
          <a:noFill/>
          <a:ln w="15240">
            <a:solidFill>
              <a:srgbClr val="101214"/>
            </a:solidFill>
            <a:prstDash val="solid"/>
            <a:tailEnd type="triangle"/>
          </a:ln>
        </p:spPr>
      </p:sp>
      <p:sp>
        <p:nvSpPr>
          <p:cNvPr id="30" name="Shape 25"/>
          <p:cNvSpPr/>
          <p:nvPr/>
        </p:nvSpPr>
        <p:spPr>
          <a:xfrm>
            <a:off x="658368" y="3840480"/>
            <a:ext cx="2377440" cy="713232"/>
          </a:xfrm>
          <a:prstGeom prst="roundRect">
            <a:avLst>
              <a:gd name="adj" fmla="val 4487"/>
            </a:avLst>
          </a:prstGeom>
          <a:solidFill>
            <a:srgbClr val="FFFFFF"/>
          </a:solidFill>
          <a:ln w="10160">
            <a:solidFill>
              <a:srgbClr val="101214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658368" y="3840480"/>
            <a:ext cx="50292" cy="713232"/>
          </a:xfrm>
          <a:prstGeom prst="rect">
            <a:avLst/>
          </a:prstGeom>
          <a:solidFill>
            <a:srgbClr val="101214"/>
          </a:solidFill>
          <a:ln w="12700">
            <a:solidFill>
              <a:srgbClr val="101214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841248" y="3941064"/>
            <a:ext cx="2029968" cy="2710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MARCUS REED</a:t>
            </a:r>
            <a:endParaRPr lang="en-US" sz="1200" dirty="0"/>
          </a:p>
        </p:txBody>
      </p:sp>
      <p:sp>
        <p:nvSpPr>
          <p:cNvPr id="33" name="Text 28"/>
          <p:cNvSpPr txBox="1"/>
          <p:nvPr/>
        </p:nvSpPr>
        <p:spPr>
          <a:xfrm>
            <a:off x="841248" y="4182831"/>
            <a:ext cx="2029968" cy="313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Senior technical authority</a:t>
            </a:r>
            <a:endParaRPr lang="en-US" sz="920" dirty="0"/>
          </a:p>
        </p:txBody>
      </p:sp>
      <p:sp>
        <p:nvSpPr>
          <p:cNvPr id="34" name="Shape 29"/>
          <p:cNvSpPr/>
          <p:nvPr/>
        </p:nvSpPr>
        <p:spPr>
          <a:xfrm>
            <a:off x="6089904" y="3538728"/>
            <a:ext cx="0" cy="137160"/>
          </a:xfrm>
          <a:prstGeom prst="line">
            <a:avLst/>
          </a:prstGeom>
          <a:noFill/>
          <a:ln w="11430">
            <a:solidFill>
              <a:srgbClr val="101214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1847088" y="3675888"/>
            <a:ext cx="4242816" cy="0"/>
          </a:xfrm>
          <a:prstGeom prst="line">
            <a:avLst/>
          </a:prstGeom>
          <a:noFill/>
          <a:ln w="11430">
            <a:solidFill>
              <a:srgbClr val="101214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1847088" y="3675888"/>
            <a:ext cx="0" cy="164592"/>
          </a:xfrm>
          <a:prstGeom prst="line">
            <a:avLst/>
          </a:prstGeom>
          <a:noFill/>
          <a:ln w="11430">
            <a:solidFill>
              <a:srgbClr val="101214"/>
            </a:solidFill>
            <a:prstDash val="solid"/>
            <a:tailEnd type="triangle"/>
          </a:ln>
        </p:spPr>
      </p:sp>
      <p:sp>
        <p:nvSpPr>
          <p:cNvPr id="37" name="Shape 32"/>
          <p:cNvSpPr/>
          <p:nvPr/>
        </p:nvSpPr>
        <p:spPr>
          <a:xfrm>
            <a:off x="3255264" y="3840480"/>
            <a:ext cx="2377440" cy="713232"/>
          </a:xfrm>
          <a:prstGeom prst="roundRect">
            <a:avLst>
              <a:gd name="adj" fmla="val 4487"/>
            </a:avLst>
          </a:prstGeom>
          <a:solidFill>
            <a:srgbClr val="FFFFFF"/>
          </a:solidFill>
          <a:ln w="10160">
            <a:solidFill>
              <a:srgbClr val="101214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3255264" y="3840480"/>
            <a:ext cx="50292" cy="713232"/>
          </a:xfrm>
          <a:prstGeom prst="rect">
            <a:avLst/>
          </a:prstGeom>
          <a:solidFill>
            <a:srgbClr val="C45124"/>
          </a:solidFill>
          <a:ln w="12700">
            <a:solidFill>
              <a:srgbClr val="C45124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3438144" y="3941064"/>
            <a:ext cx="2029968" cy="2710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ELENA TORRES</a:t>
            </a:r>
            <a:endParaRPr lang="en-US" sz="1200" dirty="0"/>
          </a:p>
        </p:txBody>
      </p:sp>
      <p:sp>
        <p:nvSpPr>
          <p:cNvPr id="40" name="Text 35"/>
          <p:cNvSpPr txBox="1"/>
          <p:nvPr/>
        </p:nvSpPr>
        <p:spPr>
          <a:xfrm>
            <a:off x="3438144" y="4182831"/>
            <a:ext cx="2029968" cy="313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Deployment counterweight</a:t>
            </a:r>
            <a:endParaRPr lang="en-US" sz="920" dirty="0"/>
          </a:p>
        </p:txBody>
      </p:sp>
      <p:sp>
        <p:nvSpPr>
          <p:cNvPr id="41" name="Shape 36"/>
          <p:cNvSpPr/>
          <p:nvPr/>
        </p:nvSpPr>
        <p:spPr>
          <a:xfrm>
            <a:off x="6089904" y="3538728"/>
            <a:ext cx="0" cy="137160"/>
          </a:xfrm>
          <a:prstGeom prst="line">
            <a:avLst/>
          </a:prstGeom>
          <a:noFill/>
          <a:ln w="11430">
            <a:solidFill>
              <a:srgbClr val="101214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4443984" y="3675888"/>
            <a:ext cx="1645920" cy="0"/>
          </a:xfrm>
          <a:prstGeom prst="line">
            <a:avLst/>
          </a:prstGeom>
          <a:noFill/>
          <a:ln w="11430">
            <a:solidFill>
              <a:srgbClr val="101214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4443984" y="3675888"/>
            <a:ext cx="0" cy="164592"/>
          </a:xfrm>
          <a:prstGeom prst="line">
            <a:avLst/>
          </a:prstGeom>
          <a:noFill/>
          <a:ln w="11430">
            <a:solidFill>
              <a:srgbClr val="101214"/>
            </a:solidFill>
            <a:prstDash val="solid"/>
            <a:tailEnd type="triangle"/>
          </a:ln>
        </p:spPr>
      </p:sp>
      <p:sp>
        <p:nvSpPr>
          <p:cNvPr id="44" name="Shape 39"/>
          <p:cNvSpPr/>
          <p:nvPr/>
        </p:nvSpPr>
        <p:spPr>
          <a:xfrm>
            <a:off x="5852160" y="3840480"/>
            <a:ext cx="2377440" cy="713232"/>
          </a:xfrm>
          <a:prstGeom prst="roundRect">
            <a:avLst>
              <a:gd name="adj" fmla="val 4487"/>
            </a:avLst>
          </a:prstGeom>
          <a:solidFill>
            <a:srgbClr val="FFFFFF"/>
          </a:solidFill>
          <a:ln w="10160">
            <a:solidFill>
              <a:srgbClr val="101214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45" name="Shape 40"/>
          <p:cNvSpPr/>
          <p:nvPr/>
        </p:nvSpPr>
        <p:spPr>
          <a:xfrm>
            <a:off x="5852160" y="3840480"/>
            <a:ext cx="50292" cy="713232"/>
          </a:xfrm>
          <a:prstGeom prst="rect">
            <a:avLst/>
          </a:prstGeom>
          <a:solidFill>
            <a:srgbClr val="2E6F96"/>
          </a:solidFill>
          <a:ln w="12700">
            <a:solidFill>
              <a:srgbClr val="2E6F96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6035040" y="3941064"/>
            <a:ext cx="2029968" cy="2710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NADIA</a:t>
            </a:r>
            <a:endParaRPr lang="en-US" sz="1200" dirty="0"/>
          </a:p>
        </p:txBody>
      </p:sp>
      <p:sp>
        <p:nvSpPr>
          <p:cNvPr id="47" name="Text 42"/>
          <p:cNvSpPr txBox="1"/>
          <p:nvPr/>
        </p:nvSpPr>
        <p:spPr>
          <a:xfrm>
            <a:off x="6035040" y="4182831"/>
            <a:ext cx="2029968" cy="313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Foundry engineer</a:t>
            </a:r>
            <a:endParaRPr lang="en-US" sz="920" dirty="0"/>
          </a:p>
        </p:txBody>
      </p:sp>
      <p:sp>
        <p:nvSpPr>
          <p:cNvPr id="48" name="Shape 43"/>
          <p:cNvSpPr/>
          <p:nvPr/>
        </p:nvSpPr>
        <p:spPr>
          <a:xfrm>
            <a:off x="6089904" y="3538728"/>
            <a:ext cx="0" cy="137160"/>
          </a:xfrm>
          <a:prstGeom prst="line">
            <a:avLst/>
          </a:prstGeom>
          <a:noFill/>
          <a:ln w="11430">
            <a:solidFill>
              <a:srgbClr val="101214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6089904" y="3675888"/>
            <a:ext cx="950976" cy="0"/>
          </a:xfrm>
          <a:prstGeom prst="line">
            <a:avLst/>
          </a:prstGeom>
          <a:noFill/>
          <a:ln w="11430">
            <a:solidFill>
              <a:srgbClr val="101214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7040880" y="3675888"/>
            <a:ext cx="0" cy="164592"/>
          </a:xfrm>
          <a:prstGeom prst="line">
            <a:avLst/>
          </a:prstGeom>
          <a:noFill/>
          <a:ln w="11430">
            <a:solidFill>
              <a:srgbClr val="101214"/>
            </a:solidFill>
            <a:prstDash val="solid"/>
            <a:tailEnd type="triangle"/>
          </a:ln>
        </p:spPr>
      </p:sp>
      <p:sp>
        <p:nvSpPr>
          <p:cNvPr id="51" name="Shape 46"/>
          <p:cNvSpPr/>
          <p:nvPr/>
        </p:nvSpPr>
        <p:spPr>
          <a:xfrm>
            <a:off x="8449056" y="3840480"/>
            <a:ext cx="2761488" cy="713232"/>
          </a:xfrm>
          <a:prstGeom prst="roundRect">
            <a:avLst>
              <a:gd name="adj" fmla="val 4487"/>
            </a:avLst>
          </a:prstGeom>
          <a:solidFill>
            <a:srgbClr val="FFFFFF"/>
          </a:solidFill>
          <a:ln w="10160">
            <a:solidFill>
              <a:srgbClr val="101214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52" name="Shape 47"/>
          <p:cNvSpPr/>
          <p:nvPr/>
        </p:nvSpPr>
        <p:spPr>
          <a:xfrm>
            <a:off x="8449056" y="3840480"/>
            <a:ext cx="50292" cy="713232"/>
          </a:xfrm>
          <a:prstGeom prst="rect">
            <a:avLst/>
          </a:prstGeom>
          <a:solidFill>
            <a:srgbClr val="315F4D"/>
          </a:solidFill>
          <a:ln w="12700">
            <a:solidFill>
              <a:srgbClr val="315F4D"/>
            </a:solidFill>
            <a:prstDash val="solid"/>
          </a:ln>
        </p:spPr>
      </p:sp>
      <p:sp>
        <p:nvSpPr>
          <p:cNvPr id="53" name="Text 48"/>
          <p:cNvSpPr txBox="1"/>
          <p:nvPr/>
        </p:nvSpPr>
        <p:spPr>
          <a:xfrm>
            <a:off x="8631936" y="3941064"/>
            <a:ext cx="2414016" cy="2710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CALEB HARGROVE</a:t>
            </a:r>
            <a:endParaRPr lang="en-US" sz="1200" dirty="0"/>
          </a:p>
        </p:txBody>
      </p:sp>
      <p:sp>
        <p:nvSpPr>
          <p:cNvPr id="54" name="Text 49"/>
          <p:cNvSpPr txBox="1"/>
          <p:nvPr/>
        </p:nvSpPr>
        <p:spPr>
          <a:xfrm>
            <a:off x="8631936" y="4182831"/>
            <a:ext cx="2414016" cy="313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Qualification interface</a:t>
            </a:r>
            <a:endParaRPr lang="en-US" sz="920" dirty="0"/>
          </a:p>
        </p:txBody>
      </p:sp>
      <p:sp>
        <p:nvSpPr>
          <p:cNvPr id="55" name="Shape 50"/>
          <p:cNvSpPr/>
          <p:nvPr/>
        </p:nvSpPr>
        <p:spPr>
          <a:xfrm>
            <a:off x="6089904" y="3538728"/>
            <a:ext cx="0" cy="137160"/>
          </a:xfrm>
          <a:prstGeom prst="line">
            <a:avLst/>
          </a:prstGeom>
          <a:noFill/>
          <a:ln w="11430">
            <a:solidFill>
              <a:srgbClr val="315F4D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6089904" y="3675888"/>
            <a:ext cx="3739896" cy="0"/>
          </a:xfrm>
          <a:prstGeom prst="line">
            <a:avLst/>
          </a:prstGeom>
          <a:noFill/>
          <a:ln w="11430">
            <a:solidFill>
              <a:srgbClr val="315F4D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9829800" y="3675888"/>
            <a:ext cx="0" cy="164592"/>
          </a:xfrm>
          <a:prstGeom prst="line">
            <a:avLst/>
          </a:prstGeom>
          <a:noFill/>
          <a:ln w="11430">
            <a:solidFill>
              <a:srgbClr val="315F4D"/>
            </a:solidFill>
            <a:prstDash val="solid"/>
            <a:tailEnd type="triangle"/>
          </a:ln>
        </p:spPr>
      </p:sp>
      <p:sp>
        <p:nvSpPr>
          <p:cNvPr id="58" name="Text 53"/>
          <p:cNvSpPr txBox="1"/>
          <p:nvPr/>
        </p:nvSpPr>
        <p:spPr>
          <a:xfrm>
            <a:off x="658368" y="4846320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b="1" spc="70" kern="0" dirty="0">
                <a:solidFill>
                  <a:srgbClr val="C451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OPERATIONAL APPLICATION FAMILIES</a:t>
            </a:r>
            <a:endParaRPr lang="en-US" sz="840" dirty="0"/>
          </a:p>
        </p:txBody>
      </p:sp>
      <p:sp>
        <p:nvSpPr>
          <p:cNvPr id="59" name="Shape 54"/>
          <p:cNvSpPr/>
          <p:nvPr/>
        </p:nvSpPr>
        <p:spPr>
          <a:xfrm>
            <a:off x="3447288" y="4956048"/>
            <a:ext cx="7763256" cy="0"/>
          </a:xfrm>
          <a:prstGeom prst="line">
            <a:avLst/>
          </a:prstGeom>
          <a:noFill/>
          <a:ln w="11430">
            <a:solidFill>
              <a:srgbClr val="D9D5CD"/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658368" y="5148072"/>
            <a:ext cx="2295144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D5CD"/>
            </a:solidFill>
            <a:prstDash val="solid"/>
          </a:ln>
        </p:spPr>
      </p:sp>
      <p:sp>
        <p:nvSpPr>
          <p:cNvPr id="61" name="Text 56"/>
          <p:cNvSpPr txBox="1"/>
          <p:nvPr/>
        </p:nvSpPr>
        <p:spPr>
          <a:xfrm>
            <a:off x="822960" y="5239512"/>
            <a:ext cx="1984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OPERATIONS</a:t>
            </a:r>
            <a:endParaRPr lang="en-US" sz="1020" dirty="0"/>
          </a:p>
        </p:txBody>
      </p:sp>
      <p:sp>
        <p:nvSpPr>
          <p:cNvPr id="62" name="Shape 57"/>
          <p:cNvSpPr/>
          <p:nvPr/>
        </p:nvSpPr>
        <p:spPr>
          <a:xfrm>
            <a:off x="658368" y="5660136"/>
            <a:ext cx="2295144" cy="36576"/>
          </a:xfrm>
          <a:prstGeom prst="rect">
            <a:avLst/>
          </a:prstGeom>
          <a:solidFill>
            <a:srgbClr val="C45124"/>
          </a:solidFill>
          <a:ln w="12700">
            <a:solidFill>
              <a:srgbClr val="C45124"/>
            </a:solidFill>
            <a:prstDash val="solid"/>
          </a:ln>
        </p:spPr>
      </p:sp>
      <p:sp>
        <p:nvSpPr>
          <p:cNvPr id="63" name="Shape 58"/>
          <p:cNvSpPr/>
          <p:nvPr/>
        </p:nvSpPr>
        <p:spPr>
          <a:xfrm>
            <a:off x="3410712" y="5148072"/>
            <a:ext cx="2295144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D5CD"/>
            </a:solidFill>
            <a:prstDash val="solid"/>
          </a:ln>
        </p:spPr>
      </p:sp>
      <p:sp>
        <p:nvSpPr>
          <p:cNvPr id="64" name="Text 59"/>
          <p:cNvSpPr txBox="1"/>
          <p:nvPr/>
        </p:nvSpPr>
        <p:spPr>
          <a:xfrm>
            <a:off x="3575304" y="5239512"/>
            <a:ext cx="1984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MAINTENANCE</a:t>
            </a:r>
            <a:endParaRPr lang="en-US" sz="1020" dirty="0"/>
          </a:p>
        </p:txBody>
      </p:sp>
      <p:sp>
        <p:nvSpPr>
          <p:cNvPr id="65" name="Shape 60"/>
          <p:cNvSpPr/>
          <p:nvPr/>
        </p:nvSpPr>
        <p:spPr>
          <a:xfrm>
            <a:off x="3410712" y="5660136"/>
            <a:ext cx="2295144" cy="36576"/>
          </a:xfrm>
          <a:prstGeom prst="rect">
            <a:avLst/>
          </a:prstGeom>
          <a:solidFill>
            <a:srgbClr val="C45124"/>
          </a:solidFill>
          <a:ln w="12700">
            <a:solidFill>
              <a:srgbClr val="C45124"/>
            </a:solidFill>
            <a:prstDash val="solid"/>
          </a:ln>
        </p:spPr>
      </p:sp>
      <p:sp>
        <p:nvSpPr>
          <p:cNvPr id="66" name="Shape 61"/>
          <p:cNvSpPr/>
          <p:nvPr/>
        </p:nvSpPr>
        <p:spPr>
          <a:xfrm>
            <a:off x="6163056" y="5148072"/>
            <a:ext cx="2295144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D5CD"/>
            </a:solidFill>
            <a:prstDash val="solid"/>
          </a:ln>
        </p:spPr>
      </p:sp>
      <p:sp>
        <p:nvSpPr>
          <p:cNvPr id="67" name="Text 62"/>
          <p:cNvSpPr txBox="1"/>
          <p:nvPr/>
        </p:nvSpPr>
        <p:spPr>
          <a:xfrm>
            <a:off x="6327648" y="5239512"/>
            <a:ext cx="1984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RECONCILIATION</a:t>
            </a:r>
            <a:endParaRPr lang="en-US" sz="1020" dirty="0"/>
          </a:p>
        </p:txBody>
      </p:sp>
      <p:sp>
        <p:nvSpPr>
          <p:cNvPr id="68" name="Shape 63"/>
          <p:cNvSpPr/>
          <p:nvPr/>
        </p:nvSpPr>
        <p:spPr>
          <a:xfrm>
            <a:off x="6163056" y="5660136"/>
            <a:ext cx="2295144" cy="36576"/>
          </a:xfrm>
          <a:prstGeom prst="rect">
            <a:avLst/>
          </a:prstGeom>
          <a:solidFill>
            <a:srgbClr val="C45124"/>
          </a:solidFill>
          <a:ln w="12700">
            <a:solidFill>
              <a:srgbClr val="C45124"/>
            </a:solidFill>
            <a:prstDash val="solid"/>
          </a:ln>
        </p:spPr>
      </p:sp>
      <p:sp>
        <p:nvSpPr>
          <p:cNvPr id="69" name="Shape 64"/>
          <p:cNvSpPr/>
          <p:nvPr/>
        </p:nvSpPr>
        <p:spPr>
          <a:xfrm>
            <a:off x="8915400" y="5148072"/>
            <a:ext cx="2295144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D5CD"/>
            </a:solidFill>
            <a:prstDash val="solid"/>
          </a:ln>
        </p:spPr>
      </p:sp>
      <p:sp>
        <p:nvSpPr>
          <p:cNvPr id="70" name="Text 65"/>
          <p:cNvSpPr txBox="1"/>
          <p:nvPr/>
        </p:nvSpPr>
        <p:spPr>
          <a:xfrm>
            <a:off x="9079992" y="5239512"/>
            <a:ext cx="1984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EXCEPTIONS</a:t>
            </a:r>
            <a:endParaRPr lang="en-US" sz="1020" dirty="0"/>
          </a:p>
        </p:txBody>
      </p:sp>
      <p:sp>
        <p:nvSpPr>
          <p:cNvPr id="71" name="Shape 66"/>
          <p:cNvSpPr/>
          <p:nvPr/>
        </p:nvSpPr>
        <p:spPr>
          <a:xfrm>
            <a:off x="8915400" y="5660136"/>
            <a:ext cx="2295144" cy="36576"/>
          </a:xfrm>
          <a:prstGeom prst="rect">
            <a:avLst/>
          </a:prstGeom>
          <a:solidFill>
            <a:srgbClr val="C45124"/>
          </a:solidFill>
          <a:ln w="12700">
            <a:solidFill>
              <a:srgbClr val="C45124"/>
            </a:solidFill>
            <a:prstDash val="solid"/>
          </a:ln>
        </p:spPr>
      </p:sp>
      <p:sp>
        <p:nvSpPr>
          <p:cNvPr id="72" name="Shape 67"/>
          <p:cNvSpPr/>
          <p:nvPr/>
        </p:nvSpPr>
        <p:spPr>
          <a:xfrm>
            <a:off x="658368" y="6016752"/>
            <a:ext cx="10881360" cy="310896"/>
          </a:xfrm>
          <a:prstGeom prst="roundRect">
            <a:avLst>
              <a:gd name="adj" fmla="val 7353"/>
            </a:avLst>
          </a:prstGeom>
          <a:solidFill>
            <a:srgbClr val="FCFBF8"/>
          </a:solidFill>
          <a:ln w="10160">
            <a:solidFill>
              <a:srgbClr val="D9D5CD"/>
            </a:solidFill>
            <a:prstDash val="solid"/>
          </a:ln>
        </p:spPr>
      </p:sp>
      <p:sp>
        <p:nvSpPr>
          <p:cNvPr id="73" name="Shape 68"/>
          <p:cNvSpPr/>
          <p:nvPr/>
        </p:nvSpPr>
        <p:spPr>
          <a:xfrm>
            <a:off x="658368" y="6016752"/>
            <a:ext cx="64008" cy="310896"/>
          </a:xfrm>
          <a:prstGeom prst="rect">
            <a:avLst/>
          </a:prstGeom>
          <a:solidFill>
            <a:srgbClr val="C45124"/>
          </a:solidFill>
          <a:ln w="12700">
            <a:solidFill>
              <a:srgbClr val="C45124"/>
            </a:solidFill>
            <a:prstDash val="solid"/>
          </a:ln>
        </p:spPr>
      </p:sp>
      <p:sp>
        <p:nvSpPr>
          <p:cNvPr id="74" name="Text 69"/>
          <p:cNvSpPr txBox="1"/>
          <p:nvPr/>
        </p:nvSpPr>
        <p:spPr>
          <a:xfrm>
            <a:off x="841248" y="6044184"/>
            <a:ext cx="10561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Boundary preserved: Foundry is the reusable substrate; Foundry Field is the deployable customer-facing product and service configuration.</a:t>
            </a:r>
            <a:endParaRPr lang="en-US" sz="860" dirty="0"/>
          </a:p>
        </p:txBody>
      </p:sp>
      <p:sp>
        <p:nvSpPr>
          <p:cNvPr id="75" name="Text 70"/>
          <p:cNvSpPr txBox="1"/>
          <p:nvPr/>
        </p:nvSpPr>
        <p:spPr>
          <a:xfrm>
            <a:off x="438912" y="6510528"/>
            <a:ext cx="4114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Canon date: August 31, 2026</a:t>
            </a:r>
            <a:endParaRPr lang="en-US" sz="760" dirty="0"/>
          </a:p>
        </p:txBody>
      </p:sp>
      <p:sp>
        <p:nvSpPr>
          <p:cNvPr id="76" name="Text 71"/>
          <p:cNvSpPr txBox="1"/>
          <p:nvPr/>
        </p:nvSpPr>
        <p:spPr>
          <a:xfrm>
            <a:off x="4572000" y="647395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Solid line = unit leadership or containment  •  Dashed line = cross-company interface  •  OPEN = unresolved by canon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77A7D"/>
                </a:solidFill>
                <a:latin typeface="Inter Display"/>
                <a:ea typeface="Inter Display"/>
                <a:cs typeface="Inter Display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1480" y="210312"/>
            <a:ext cx="347472" cy="34747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8288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spc="120" kern="0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SABLE HARBOR</a:t>
            </a:r>
            <a:endParaRPr lang="en-US" sz="135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40233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70" spc="110" kern="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ORGANIZATION BRIEFING</a:t>
            </a:r>
            <a:endParaRPr lang="en-US" sz="770" dirty="0"/>
          </a:p>
        </p:txBody>
      </p:sp>
      <p:sp>
        <p:nvSpPr>
          <p:cNvPr id="5" name="Shape 2"/>
          <p:cNvSpPr/>
          <p:nvPr/>
        </p:nvSpPr>
        <p:spPr>
          <a:xfrm>
            <a:off x="2468880" y="182880"/>
            <a:ext cx="0" cy="393192"/>
          </a:xfrm>
          <a:prstGeom prst="line">
            <a:avLst/>
          </a:prstGeom>
          <a:noFill/>
          <a:ln w="12700">
            <a:solidFill>
              <a:srgbClr val="D9D5CD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24912" y="173736"/>
            <a:ext cx="393192" cy="39319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218688" y="137160"/>
            <a:ext cx="8138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spc="60" kern="0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PROJECT WILLOW</a:t>
            </a:r>
            <a:endParaRPr lang="en-US" sz="2300" dirty="0"/>
          </a:p>
        </p:txBody>
      </p:sp>
      <p:sp>
        <p:nvSpPr>
          <p:cNvPr id="8" name="Text 4"/>
          <p:cNvSpPr txBox="1"/>
          <p:nvPr/>
        </p:nvSpPr>
        <p:spPr>
          <a:xfrm>
            <a:off x="3218688" y="448056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Laboratory organization, institutional seam, and operating qualification gate</a:t>
            </a:r>
            <a:endParaRPr lang="en-US" sz="940" dirty="0"/>
          </a:p>
        </p:txBody>
      </p:sp>
      <p:sp>
        <p:nvSpPr>
          <p:cNvPr id="9" name="Shape 5"/>
          <p:cNvSpPr/>
          <p:nvPr/>
        </p:nvSpPr>
        <p:spPr>
          <a:xfrm>
            <a:off x="3218688" y="658368"/>
            <a:ext cx="8156448" cy="0"/>
          </a:xfrm>
          <a:prstGeom prst="line">
            <a:avLst/>
          </a:prstGeom>
          <a:noFill/>
          <a:ln w="30480">
            <a:solidFill>
              <a:srgbClr val="315F4D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38912" y="841248"/>
            <a:ext cx="11320272" cy="749808"/>
          </a:xfrm>
          <a:prstGeom prst="roundRect">
            <a:avLst>
              <a:gd name="adj" fmla="val 6098"/>
            </a:avLst>
          </a:prstGeom>
          <a:solidFill>
            <a:srgbClr val="FCFBF8"/>
          </a:solidFill>
          <a:ln w="12700">
            <a:solidFill>
              <a:srgbClr val="D9D5CD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38912" y="841248"/>
            <a:ext cx="73152" cy="749808"/>
          </a:xfrm>
          <a:prstGeom prst="rect">
            <a:avLst/>
          </a:prstGeom>
          <a:solidFill>
            <a:srgbClr val="315F4D"/>
          </a:solidFill>
          <a:ln w="12700">
            <a:solidFill>
              <a:srgbClr val="315F4D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94944" y="950976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b="1" spc="80" kern="0" dirty="0">
                <a:solidFill>
                  <a:srgbClr val="315F4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HQ / OPERATING CENTER</a:t>
            </a:r>
            <a:endParaRPr lang="en-US" sz="710" dirty="0"/>
          </a:p>
        </p:txBody>
      </p:sp>
      <p:sp>
        <p:nvSpPr>
          <p:cNvPr id="13" name="Text 9"/>
          <p:cNvSpPr txBox="1"/>
          <p:nvPr/>
        </p:nvSpPr>
        <p:spPr>
          <a:xfrm>
            <a:off x="694944" y="1124712"/>
            <a:ext cx="2331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Pittsburgh, Pennsylvania</a:t>
            </a:r>
            <a:endParaRPr lang="en-US" sz="103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Institutional seam: Sacramento</a:t>
            </a:r>
            <a:endParaRPr lang="en-US" sz="1030" dirty="0"/>
          </a:p>
        </p:txBody>
      </p:sp>
      <p:sp>
        <p:nvSpPr>
          <p:cNvPr id="14" name="Text 10"/>
          <p:cNvSpPr txBox="1"/>
          <p:nvPr/>
        </p:nvSpPr>
        <p:spPr>
          <a:xfrm>
            <a:off x="3118104" y="950976"/>
            <a:ext cx="5138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b="1" spc="80" kern="0" dirty="0">
                <a:solidFill>
                  <a:srgbClr val="315F4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BUSINESS</a:t>
            </a:r>
            <a:endParaRPr lang="en-US" sz="710" dirty="0"/>
          </a:p>
        </p:txBody>
      </p:sp>
      <p:sp>
        <p:nvSpPr>
          <p:cNvPr id="15" name="Text 11"/>
          <p:cNvSpPr txBox="1"/>
          <p:nvPr/>
        </p:nvSpPr>
        <p:spPr>
          <a:xfrm>
            <a:off x="3118104" y="1124712"/>
            <a:ext cx="51389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Bounded industrial laboratory pursuing consequential questions no existing product, delivery team, or operating unit can own.</a:t>
            </a:r>
            <a:endParaRPr lang="en-US" sz="1030" dirty="0"/>
          </a:p>
        </p:txBody>
      </p:sp>
      <p:sp>
        <p:nvSpPr>
          <p:cNvPr id="16" name="Text 12"/>
          <p:cNvSpPr txBox="1"/>
          <p:nvPr/>
        </p:nvSpPr>
        <p:spPr>
          <a:xfrm>
            <a:off x="8366760" y="950976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b="1" spc="80" kern="0" dirty="0">
                <a:solidFill>
                  <a:srgbClr val="315F4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CURRENT LEAD</a:t>
            </a:r>
            <a:endParaRPr lang="en-US" sz="710" dirty="0"/>
          </a:p>
        </p:txBody>
      </p:sp>
      <p:sp>
        <p:nvSpPr>
          <p:cNvPr id="17" name="Text 13"/>
          <p:cNvSpPr txBox="1"/>
          <p:nvPr/>
        </p:nvSpPr>
        <p:spPr>
          <a:xfrm>
            <a:off x="8366760" y="1124712"/>
            <a:ext cx="1600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Gid Voss</a:t>
            </a:r>
            <a:endParaRPr lang="en-US" sz="1030" dirty="0"/>
          </a:p>
        </p:txBody>
      </p:sp>
      <p:sp>
        <p:nvSpPr>
          <p:cNvPr id="18" name="Text 14"/>
          <p:cNvSpPr txBox="1"/>
          <p:nvPr/>
        </p:nvSpPr>
        <p:spPr>
          <a:xfrm>
            <a:off x="10085832" y="950976"/>
            <a:ext cx="1426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b="1" spc="80" kern="0" dirty="0">
                <a:solidFill>
                  <a:srgbClr val="315F4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STATUS</a:t>
            </a:r>
            <a:endParaRPr lang="en-US" sz="710" dirty="0"/>
          </a:p>
        </p:txBody>
      </p:sp>
      <p:sp>
        <p:nvSpPr>
          <p:cNvPr id="19" name="Text 15"/>
          <p:cNvSpPr txBox="1"/>
          <p:nvPr/>
        </p:nvSpPr>
        <p:spPr>
          <a:xfrm>
            <a:off x="10085832" y="1124712"/>
            <a:ext cx="14264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Active laboratory</a:t>
            </a:r>
            <a:endParaRPr lang="en-US" sz="1030" dirty="0"/>
          </a:p>
        </p:txBody>
      </p:sp>
      <p:sp>
        <p:nvSpPr>
          <p:cNvPr id="20" name="Shape 16"/>
          <p:cNvSpPr/>
          <p:nvPr/>
        </p:nvSpPr>
        <p:spPr>
          <a:xfrm>
            <a:off x="566928" y="1920240"/>
            <a:ext cx="2779776" cy="6858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0160">
            <a:solidFill>
              <a:srgbClr val="101214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66928" y="1920240"/>
            <a:ext cx="50292" cy="685800"/>
          </a:xfrm>
          <a:prstGeom prst="rect">
            <a:avLst/>
          </a:prstGeom>
          <a:solidFill>
            <a:srgbClr val="315F4D"/>
          </a:solidFill>
          <a:ln w="12700">
            <a:solidFill>
              <a:srgbClr val="315F4D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49808" y="2020824"/>
            <a:ext cx="243230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CALEB HARGROVE</a:t>
            </a:r>
            <a:endParaRPr lang="en-US" sz="1230" dirty="0"/>
          </a:p>
        </p:txBody>
      </p:sp>
      <p:sp>
        <p:nvSpPr>
          <p:cNvPr id="23" name="Text 19"/>
          <p:cNvSpPr txBox="1"/>
          <p:nvPr/>
        </p:nvSpPr>
        <p:spPr>
          <a:xfrm>
            <a:off x="749808" y="2249424"/>
            <a:ext cx="24323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Qualification gate</a:t>
            </a:r>
            <a:endParaRPr lang="en-US" sz="920" dirty="0"/>
          </a:p>
        </p:txBody>
      </p:sp>
      <p:sp>
        <p:nvSpPr>
          <p:cNvPr id="24" name="Shape 20"/>
          <p:cNvSpPr/>
          <p:nvPr/>
        </p:nvSpPr>
        <p:spPr>
          <a:xfrm>
            <a:off x="3721608" y="1920240"/>
            <a:ext cx="4718304" cy="6858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0160">
            <a:solidFill>
              <a:srgbClr val="101214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3721608" y="1920240"/>
            <a:ext cx="50292" cy="685800"/>
          </a:xfrm>
          <a:prstGeom prst="rect">
            <a:avLst/>
          </a:prstGeom>
          <a:solidFill>
            <a:srgbClr val="315F4D"/>
          </a:solidFill>
          <a:ln w="12700">
            <a:solidFill>
              <a:srgbClr val="315F4D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7912" y="2084832"/>
            <a:ext cx="356616" cy="356616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4379976" y="2020824"/>
            <a:ext cx="389534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PROJECT WILLOW / WILLOW LABS</a:t>
            </a:r>
            <a:endParaRPr lang="en-US" sz="1500" dirty="0"/>
          </a:p>
        </p:txBody>
      </p:sp>
      <p:sp>
        <p:nvSpPr>
          <p:cNvPr id="28" name="Text 23"/>
          <p:cNvSpPr txBox="1"/>
          <p:nvPr/>
        </p:nvSpPr>
        <p:spPr>
          <a:xfrm>
            <a:off x="4379976" y="2249424"/>
            <a:ext cx="3895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Bounded experimental program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8833104" y="1920240"/>
            <a:ext cx="2779776" cy="6858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0160">
            <a:solidFill>
              <a:srgbClr val="101214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8833104" y="1920240"/>
            <a:ext cx="50292" cy="685800"/>
          </a:xfrm>
          <a:prstGeom prst="rect">
            <a:avLst/>
          </a:prstGeom>
          <a:solidFill>
            <a:srgbClr val="C45124"/>
          </a:solidFill>
          <a:ln w="12700">
            <a:solidFill>
              <a:srgbClr val="C45124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9015984" y="2020824"/>
            <a:ext cx="243230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RACHEL SLOANE</a:t>
            </a:r>
            <a:endParaRPr lang="en-US" sz="1200" dirty="0"/>
          </a:p>
        </p:txBody>
      </p:sp>
      <p:sp>
        <p:nvSpPr>
          <p:cNvPr id="32" name="Text 27"/>
          <p:cNvSpPr txBox="1"/>
          <p:nvPr/>
        </p:nvSpPr>
        <p:spPr>
          <a:xfrm>
            <a:off x="9015984" y="2249424"/>
            <a:ext cx="24323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9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Institutional seam · not Gid’s manager</a:t>
            </a:r>
            <a:endParaRPr lang="en-US" sz="890" dirty="0"/>
          </a:p>
        </p:txBody>
      </p:sp>
      <p:sp>
        <p:nvSpPr>
          <p:cNvPr id="33" name="Shape 28"/>
          <p:cNvSpPr/>
          <p:nvPr/>
        </p:nvSpPr>
        <p:spPr>
          <a:xfrm>
            <a:off x="3346704" y="2263140"/>
            <a:ext cx="187452" cy="0"/>
          </a:xfrm>
          <a:prstGeom prst="line">
            <a:avLst/>
          </a:prstGeom>
          <a:noFill/>
          <a:ln w="11430">
            <a:solidFill>
              <a:srgbClr val="315F4D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3534156" y="2263140"/>
            <a:ext cx="0" cy="0"/>
          </a:xfrm>
          <a:prstGeom prst="line">
            <a:avLst/>
          </a:prstGeom>
          <a:noFill/>
          <a:ln w="11430">
            <a:solidFill>
              <a:srgbClr val="315F4D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3534156" y="2263140"/>
            <a:ext cx="187452" cy="0"/>
          </a:xfrm>
          <a:prstGeom prst="line">
            <a:avLst/>
          </a:prstGeom>
          <a:noFill/>
          <a:ln w="11430">
            <a:solidFill>
              <a:srgbClr val="315F4D"/>
            </a:solidFill>
            <a:prstDash val="solid"/>
            <a:tailEnd type="triangle"/>
          </a:ln>
        </p:spPr>
      </p:sp>
      <p:sp>
        <p:nvSpPr>
          <p:cNvPr id="36" name="Shape 31"/>
          <p:cNvSpPr/>
          <p:nvPr/>
        </p:nvSpPr>
        <p:spPr>
          <a:xfrm>
            <a:off x="8439912" y="2263140"/>
            <a:ext cx="196596" cy="0"/>
          </a:xfrm>
          <a:prstGeom prst="line">
            <a:avLst/>
          </a:prstGeom>
          <a:noFill/>
          <a:ln w="11430">
            <a:solidFill>
              <a:srgbClr val="C45124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8636508" y="2263140"/>
            <a:ext cx="0" cy="0"/>
          </a:xfrm>
          <a:prstGeom prst="line">
            <a:avLst/>
          </a:prstGeom>
          <a:noFill/>
          <a:ln w="11430">
            <a:solidFill>
              <a:srgbClr val="C45124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8636508" y="2263140"/>
            <a:ext cx="196596" cy="0"/>
          </a:xfrm>
          <a:prstGeom prst="line">
            <a:avLst/>
          </a:prstGeom>
          <a:noFill/>
          <a:ln w="11430">
            <a:solidFill>
              <a:srgbClr val="C45124"/>
            </a:solidFill>
            <a:prstDash val="solid"/>
            <a:tailEnd type="triangle"/>
          </a:ln>
        </p:spPr>
      </p:sp>
      <p:sp>
        <p:nvSpPr>
          <p:cNvPr id="39" name="Shape 34"/>
          <p:cNvSpPr/>
          <p:nvPr/>
        </p:nvSpPr>
        <p:spPr>
          <a:xfrm>
            <a:off x="4434840" y="2880360"/>
            <a:ext cx="3291840" cy="6858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0160">
            <a:solidFill>
              <a:srgbClr val="101214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40" name="Shape 35"/>
          <p:cNvSpPr/>
          <p:nvPr/>
        </p:nvSpPr>
        <p:spPr>
          <a:xfrm>
            <a:off x="4434840" y="2880360"/>
            <a:ext cx="50292" cy="685800"/>
          </a:xfrm>
          <a:prstGeom prst="rect">
            <a:avLst/>
          </a:prstGeom>
          <a:solidFill>
            <a:srgbClr val="315F4D"/>
          </a:solidFill>
          <a:ln w="12700">
            <a:solidFill>
              <a:srgbClr val="315F4D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4617720" y="2980944"/>
            <a:ext cx="294436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2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GID VOSS</a:t>
            </a:r>
            <a:endParaRPr lang="en-US" sz="1420" dirty="0"/>
          </a:p>
        </p:txBody>
      </p:sp>
      <p:sp>
        <p:nvSpPr>
          <p:cNvPr id="42" name="Text 37"/>
          <p:cNvSpPr txBox="1"/>
          <p:nvPr/>
        </p:nvSpPr>
        <p:spPr>
          <a:xfrm>
            <a:off x="4617720" y="3209544"/>
            <a:ext cx="29443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Willow lead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6080760" y="2606040"/>
            <a:ext cx="0" cy="274320"/>
          </a:xfrm>
          <a:prstGeom prst="line">
            <a:avLst/>
          </a:prstGeom>
          <a:noFill/>
          <a:ln w="15240">
            <a:solidFill>
              <a:srgbClr val="101214"/>
            </a:solidFill>
            <a:prstDash val="solid"/>
            <a:tailEnd type="triangle"/>
          </a:ln>
        </p:spPr>
      </p:sp>
      <p:sp>
        <p:nvSpPr>
          <p:cNvPr id="44" name="Shape 39"/>
          <p:cNvSpPr/>
          <p:nvPr/>
        </p:nvSpPr>
        <p:spPr>
          <a:xfrm>
            <a:off x="502920" y="3950208"/>
            <a:ext cx="2633472" cy="621792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0160">
            <a:solidFill>
              <a:srgbClr val="101214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45" name="Shape 40"/>
          <p:cNvSpPr/>
          <p:nvPr/>
        </p:nvSpPr>
        <p:spPr>
          <a:xfrm>
            <a:off x="502920" y="3950208"/>
            <a:ext cx="50292" cy="621792"/>
          </a:xfrm>
          <a:prstGeom prst="rect">
            <a:avLst/>
          </a:prstGeom>
          <a:solidFill>
            <a:srgbClr val="315F4D"/>
          </a:solidFill>
          <a:ln w="12700">
            <a:solidFill>
              <a:srgbClr val="315F4D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685800" y="4050792"/>
            <a:ext cx="2286000" cy="2362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1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MARA AQUIL</a:t>
            </a:r>
            <a:endParaRPr lang="en-US" sz="1110" dirty="0"/>
          </a:p>
        </p:txBody>
      </p:sp>
      <p:sp>
        <p:nvSpPr>
          <p:cNvPr id="47" name="Text 42"/>
          <p:cNvSpPr txBox="1"/>
          <p:nvPr/>
        </p:nvSpPr>
        <p:spPr>
          <a:xfrm>
            <a:off x="685800" y="4248668"/>
            <a:ext cx="2286000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Embedded &amp; field systems</a:t>
            </a:r>
            <a:endParaRPr lang="en-US" sz="840" dirty="0"/>
          </a:p>
        </p:txBody>
      </p:sp>
      <p:sp>
        <p:nvSpPr>
          <p:cNvPr id="48" name="Shape 43"/>
          <p:cNvSpPr/>
          <p:nvPr/>
        </p:nvSpPr>
        <p:spPr>
          <a:xfrm>
            <a:off x="6080760" y="3566160"/>
            <a:ext cx="0" cy="182880"/>
          </a:xfrm>
          <a:prstGeom prst="line">
            <a:avLst/>
          </a:prstGeom>
          <a:noFill/>
          <a:ln w="10160">
            <a:solidFill>
              <a:srgbClr val="101214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1819656" y="3749040"/>
            <a:ext cx="4261104" cy="0"/>
          </a:xfrm>
          <a:prstGeom prst="line">
            <a:avLst/>
          </a:prstGeom>
          <a:noFill/>
          <a:ln w="10160">
            <a:solidFill>
              <a:srgbClr val="101214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1819656" y="3749040"/>
            <a:ext cx="0" cy="201168"/>
          </a:xfrm>
          <a:prstGeom prst="line">
            <a:avLst/>
          </a:prstGeom>
          <a:noFill/>
          <a:ln w="10160">
            <a:solidFill>
              <a:srgbClr val="101214"/>
            </a:solidFill>
            <a:prstDash val="solid"/>
            <a:tailEnd type="triangle"/>
          </a:ln>
        </p:spPr>
      </p:sp>
      <p:sp>
        <p:nvSpPr>
          <p:cNvPr id="51" name="Shape 46"/>
          <p:cNvSpPr/>
          <p:nvPr/>
        </p:nvSpPr>
        <p:spPr>
          <a:xfrm>
            <a:off x="3410712" y="3950208"/>
            <a:ext cx="2633472" cy="621792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0160">
            <a:solidFill>
              <a:srgbClr val="101214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52" name="Shape 47"/>
          <p:cNvSpPr/>
          <p:nvPr/>
        </p:nvSpPr>
        <p:spPr>
          <a:xfrm>
            <a:off x="3410712" y="3950208"/>
            <a:ext cx="50292" cy="621792"/>
          </a:xfrm>
          <a:prstGeom prst="rect">
            <a:avLst/>
          </a:prstGeom>
          <a:solidFill>
            <a:srgbClr val="315F4D"/>
          </a:solidFill>
          <a:ln w="12700">
            <a:solidFill>
              <a:srgbClr val="315F4D"/>
            </a:solidFill>
            <a:prstDash val="solid"/>
          </a:ln>
        </p:spPr>
      </p:sp>
      <p:sp>
        <p:nvSpPr>
          <p:cNvPr id="53" name="Text 48"/>
          <p:cNvSpPr txBox="1"/>
          <p:nvPr/>
        </p:nvSpPr>
        <p:spPr>
          <a:xfrm>
            <a:off x="3593592" y="4050792"/>
            <a:ext cx="2286000" cy="2362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1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THEO BELL</a:t>
            </a:r>
            <a:endParaRPr lang="en-US" sz="1110" dirty="0"/>
          </a:p>
        </p:txBody>
      </p:sp>
      <p:sp>
        <p:nvSpPr>
          <p:cNvPr id="54" name="Text 49"/>
          <p:cNvSpPr txBox="1"/>
          <p:nvPr/>
        </p:nvSpPr>
        <p:spPr>
          <a:xfrm>
            <a:off x="3593592" y="4248668"/>
            <a:ext cx="2286000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Applied mathematics</a:t>
            </a:r>
            <a:endParaRPr lang="en-US" sz="840" dirty="0"/>
          </a:p>
        </p:txBody>
      </p:sp>
      <p:sp>
        <p:nvSpPr>
          <p:cNvPr id="55" name="Shape 50"/>
          <p:cNvSpPr/>
          <p:nvPr/>
        </p:nvSpPr>
        <p:spPr>
          <a:xfrm>
            <a:off x="6080760" y="3566160"/>
            <a:ext cx="0" cy="182880"/>
          </a:xfrm>
          <a:prstGeom prst="line">
            <a:avLst/>
          </a:prstGeom>
          <a:noFill/>
          <a:ln w="10160">
            <a:solidFill>
              <a:srgbClr val="101214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4727448" y="3749040"/>
            <a:ext cx="1353312" cy="0"/>
          </a:xfrm>
          <a:prstGeom prst="line">
            <a:avLst/>
          </a:prstGeom>
          <a:noFill/>
          <a:ln w="10160">
            <a:solidFill>
              <a:srgbClr val="101214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4727448" y="3749040"/>
            <a:ext cx="0" cy="201168"/>
          </a:xfrm>
          <a:prstGeom prst="line">
            <a:avLst/>
          </a:prstGeom>
          <a:noFill/>
          <a:ln w="10160">
            <a:solidFill>
              <a:srgbClr val="101214"/>
            </a:solidFill>
            <a:prstDash val="solid"/>
            <a:tailEnd type="triangle"/>
          </a:ln>
        </p:spPr>
      </p:sp>
      <p:sp>
        <p:nvSpPr>
          <p:cNvPr id="58" name="Shape 53"/>
          <p:cNvSpPr/>
          <p:nvPr/>
        </p:nvSpPr>
        <p:spPr>
          <a:xfrm>
            <a:off x="6318504" y="3950208"/>
            <a:ext cx="2633472" cy="621792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0160">
            <a:solidFill>
              <a:srgbClr val="101214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59" name="Shape 54"/>
          <p:cNvSpPr/>
          <p:nvPr/>
        </p:nvSpPr>
        <p:spPr>
          <a:xfrm>
            <a:off x="6318504" y="3950208"/>
            <a:ext cx="50292" cy="621792"/>
          </a:xfrm>
          <a:prstGeom prst="rect">
            <a:avLst/>
          </a:prstGeom>
          <a:solidFill>
            <a:srgbClr val="315F4D"/>
          </a:solidFill>
          <a:ln w="12700">
            <a:solidFill>
              <a:srgbClr val="315F4D"/>
            </a:solidFill>
            <a:prstDash val="solid"/>
          </a:ln>
        </p:spPr>
      </p:sp>
      <p:sp>
        <p:nvSpPr>
          <p:cNvPr id="60" name="Text 55"/>
          <p:cNvSpPr txBox="1"/>
          <p:nvPr/>
        </p:nvSpPr>
        <p:spPr>
          <a:xfrm>
            <a:off x="6501384" y="4050792"/>
            <a:ext cx="2286000" cy="2362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1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BENJI RAO</a:t>
            </a:r>
            <a:endParaRPr lang="en-US" sz="1110" dirty="0"/>
          </a:p>
        </p:txBody>
      </p:sp>
      <p:sp>
        <p:nvSpPr>
          <p:cNvPr id="61" name="Text 56"/>
          <p:cNvSpPr txBox="1"/>
          <p:nvPr/>
        </p:nvSpPr>
        <p:spPr>
          <a:xfrm>
            <a:off x="6501384" y="4248668"/>
            <a:ext cx="2286000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Mechanical systems</a:t>
            </a:r>
            <a:endParaRPr lang="en-US" sz="840" dirty="0"/>
          </a:p>
        </p:txBody>
      </p:sp>
      <p:sp>
        <p:nvSpPr>
          <p:cNvPr id="62" name="Shape 57"/>
          <p:cNvSpPr/>
          <p:nvPr/>
        </p:nvSpPr>
        <p:spPr>
          <a:xfrm>
            <a:off x="6080760" y="3566160"/>
            <a:ext cx="0" cy="182880"/>
          </a:xfrm>
          <a:prstGeom prst="line">
            <a:avLst/>
          </a:prstGeom>
          <a:noFill/>
          <a:ln w="10160">
            <a:solidFill>
              <a:srgbClr val="101214"/>
            </a:solidFill>
            <a:prstDash val="solid"/>
          </a:ln>
        </p:spPr>
      </p:sp>
      <p:sp>
        <p:nvSpPr>
          <p:cNvPr id="63" name="Shape 58"/>
          <p:cNvSpPr/>
          <p:nvPr/>
        </p:nvSpPr>
        <p:spPr>
          <a:xfrm>
            <a:off x="6080760" y="3749040"/>
            <a:ext cx="1554480" cy="0"/>
          </a:xfrm>
          <a:prstGeom prst="line">
            <a:avLst/>
          </a:prstGeom>
          <a:noFill/>
          <a:ln w="10160">
            <a:solidFill>
              <a:srgbClr val="101214"/>
            </a:solidFill>
            <a:prstDash val="solid"/>
          </a:ln>
        </p:spPr>
      </p:sp>
      <p:sp>
        <p:nvSpPr>
          <p:cNvPr id="64" name="Shape 59"/>
          <p:cNvSpPr/>
          <p:nvPr/>
        </p:nvSpPr>
        <p:spPr>
          <a:xfrm>
            <a:off x="7635240" y="3749040"/>
            <a:ext cx="0" cy="201168"/>
          </a:xfrm>
          <a:prstGeom prst="line">
            <a:avLst/>
          </a:prstGeom>
          <a:noFill/>
          <a:ln w="10160">
            <a:solidFill>
              <a:srgbClr val="101214"/>
            </a:solidFill>
            <a:prstDash val="solid"/>
            <a:tailEnd type="triangle"/>
          </a:ln>
        </p:spPr>
      </p:sp>
      <p:sp>
        <p:nvSpPr>
          <p:cNvPr id="65" name="Shape 60"/>
          <p:cNvSpPr/>
          <p:nvPr/>
        </p:nvSpPr>
        <p:spPr>
          <a:xfrm>
            <a:off x="9226296" y="3950208"/>
            <a:ext cx="2633472" cy="621792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0160">
            <a:solidFill>
              <a:srgbClr val="101214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66" name="Shape 61"/>
          <p:cNvSpPr/>
          <p:nvPr/>
        </p:nvSpPr>
        <p:spPr>
          <a:xfrm>
            <a:off x="9226296" y="3950208"/>
            <a:ext cx="50292" cy="621792"/>
          </a:xfrm>
          <a:prstGeom prst="rect">
            <a:avLst/>
          </a:prstGeom>
          <a:solidFill>
            <a:srgbClr val="315F4D"/>
          </a:solidFill>
          <a:ln w="12700">
            <a:solidFill>
              <a:srgbClr val="315F4D"/>
            </a:solidFill>
            <a:prstDash val="solid"/>
          </a:ln>
        </p:spPr>
      </p:sp>
      <p:sp>
        <p:nvSpPr>
          <p:cNvPr id="67" name="Text 62"/>
          <p:cNvSpPr txBox="1"/>
          <p:nvPr/>
        </p:nvSpPr>
        <p:spPr>
          <a:xfrm>
            <a:off x="9409176" y="4050792"/>
            <a:ext cx="2286000" cy="2362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1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JUN PARK</a:t>
            </a:r>
            <a:endParaRPr lang="en-US" sz="1110" dirty="0"/>
          </a:p>
        </p:txBody>
      </p:sp>
      <p:sp>
        <p:nvSpPr>
          <p:cNvPr id="68" name="Text 63"/>
          <p:cNvSpPr txBox="1"/>
          <p:nvPr/>
        </p:nvSpPr>
        <p:spPr>
          <a:xfrm>
            <a:off x="9409176" y="4248668"/>
            <a:ext cx="2286000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Human-computer interaction</a:t>
            </a:r>
            <a:endParaRPr lang="en-US" sz="840" dirty="0"/>
          </a:p>
        </p:txBody>
      </p:sp>
      <p:sp>
        <p:nvSpPr>
          <p:cNvPr id="69" name="Shape 64"/>
          <p:cNvSpPr/>
          <p:nvPr/>
        </p:nvSpPr>
        <p:spPr>
          <a:xfrm>
            <a:off x="6080760" y="3566160"/>
            <a:ext cx="0" cy="182880"/>
          </a:xfrm>
          <a:prstGeom prst="line">
            <a:avLst/>
          </a:prstGeom>
          <a:noFill/>
          <a:ln w="10160">
            <a:solidFill>
              <a:srgbClr val="101214"/>
            </a:solidFill>
            <a:prstDash val="solid"/>
          </a:ln>
        </p:spPr>
      </p:sp>
      <p:sp>
        <p:nvSpPr>
          <p:cNvPr id="70" name="Shape 65"/>
          <p:cNvSpPr/>
          <p:nvPr/>
        </p:nvSpPr>
        <p:spPr>
          <a:xfrm>
            <a:off x="6080760" y="3749040"/>
            <a:ext cx="4462272" cy="0"/>
          </a:xfrm>
          <a:prstGeom prst="line">
            <a:avLst/>
          </a:prstGeom>
          <a:noFill/>
          <a:ln w="10160">
            <a:solidFill>
              <a:srgbClr val="101214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10543032" y="3749040"/>
            <a:ext cx="0" cy="201168"/>
          </a:xfrm>
          <a:prstGeom prst="line">
            <a:avLst/>
          </a:prstGeom>
          <a:noFill/>
          <a:ln w="10160">
            <a:solidFill>
              <a:srgbClr val="101214"/>
            </a:solidFill>
            <a:prstDash val="solid"/>
            <a:tailEnd type="triangle"/>
          </a:ln>
        </p:spPr>
      </p:sp>
      <p:sp>
        <p:nvSpPr>
          <p:cNvPr id="72" name="Shape 67"/>
          <p:cNvSpPr/>
          <p:nvPr/>
        </p:nvSpPr>
        <p:spPr>
          <a:xfrm>
            <a:off x="502920" y="4773168"/>
            <a:ext cx="2633472" cy="621792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0160">
            <a:solidFill>
              <a:srgbClr val="101214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73" name="Shape 68"/>
          <p:cNvSpPr/>
          <p:nvPr/>
        </p:nvSpPr>
        <p:spPr>
          <a:xfrm>
            <a:off x="502920" y="4773168"/>
            <a:ext cx="50292" cy="621792"/>
          </a:xfrm>
          <a:prstGeom prst="rect">
            <a:avLst/>
          </a:prstGeom>
          <a:solidFill>
            <a:srgbClr val="315F4D"/>
          </a:solidFill>
          <a:ln w="12700">
            <a:solidFill>
              <a:srgbClr val="315F4D"/>
            </a:solidFill>
            <a:prstDash val="solid"/>
          </a:ln>
        </p:spPr>
      </p:sp>
      <p:sp>
        <p:nvSpPr>
          <p:cNvPr id="74" name="Text 69"/>
          <p:cNvSpPr txBox="1"/>
          <p:nvPr/>
        </p:nvSpPr>
        <p:spPr>
          <a:xfrm>
            <a:off x="685800" y="4873752"/>
            <a:ext cx="2286000" cy="2362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1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ELI</a:t>
            </a:r>
            <a:endParaRPr lang="en-US" sz="1110" dirty="0"/>
          </a:p>
        </p:txBody>
      </p:sp>
      <p:sp>
        <p:nvSpPr>
          <p:cNvPr id="75" name="Text 70"/>
          <p:cNvSpPr txBox="1"/>
          <p:nvPr/>
        </p:nvSpPr>
        <p:spPr>
          <a:xfrm>
            <a:off x="685800" y="5071628"/>
            <a:ext cx="2286000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RF &amp; communications</a:t>
            </a:r>
            <a:endParaRPr lang="en-US" sz="840" dirty="0"/>
          </a:p>
        </p:txBody>
      </p:sp>
      <p:sp>
        <p:nvSpPr>
          <p:cNvPr id="76" name="Shape 71"/>
          <p:cNvSpPr/>
          <p:nvPr/>
        </p:nvSpPr>
        <p:spPr>
          <a:xfrm>
            <a:off x="6080760" y="3566160"/>
            <a:ext cx="0" cy="1005840"/>
          </a:xfrm>
          <a:prstGeom prst="line">
            <a:avLst/>
          </a:prstGeom>
          <a:noFill/>
          <a:ln w="10160">
            <a:solidFill>
              <a:srgbClr val="101214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1819656" y="4572000"/>
            <a:ext cx="4261104" cy="0"/>
          </a:xfrm>
          <a:prstGeom prst="line">
            <a:avLst/>
          </a:prstGeom>
          <a:noFill/>
          <a:ln w="10160">
            <a:solidFill>
              <a:srgbClr val="101214"/>
            </a:solidFill>
            <a:prstDash val="solid"/>
          </a:ln>
        </p:spPr>
      </p:sp>
      <p:sp>
        <p:nvSpPr>
          <p:cNvPr id="78" name="Shape 73"/>
          <p:cNvSpPr/>
          <p:nvPr/>
        </p:nvSpPr>
        <p:spPr>
          <a:xfrm>
            <a:off x="1819656" y="4572000"/>
            <a:ext cx="0" cy="201168"/>
          </a:xfrm>
          <a:prstGeom prst="line">
            <a:avLst/>
          </a:prstGeom>
          <a:noFill/>
          <a:ln w="10160">
            <a:solidFill>
              <a:srgbClr val="101214"/>
            </a:solidFill>
            <a:prstDash val="solid"/>
            <a:tailEnd type="triangle"/>
          </a:ln>
        </p:spPr>
      </p:sp>
      <p:sp>
        <p:nvSpPr>
          <p:cNvPr id="79" name="Shape 74"/>
          <p:cNvSpPr/>
          <p:nvPr/>
        </p:nvSpPr>
        <p:spPr>
          <a:xfrm>
            <a:off x="3410712" y="4773168"/>
            <a:ext cx="2633472" cy="621792"/>
          </a:xfrm>
          <a:prstGeom prst="roundRect">
            <a:avLst>
              <a:gd name="adj" fmla="val 5147"/>
            </a:avLst>
          </a:prstGeom>
          <a:solidFill>
            <a:srgbClr val="F0EFEC"/>
          </a:solidFill>
          <a:ln w="15240">
            <a:solidFill>
              <a:srgbClr val="8B8E91"/>
            </a:solidFill>
            <a:prstDash val="solid"/>
          </a:ln>
        </p:spPr>
      </p:sp>
      <p:sp>
        <p:nvSpPr>
          <p:cNvPr id="80" name="Shape 75"/>
          <p:cNvSpPr/>
          <p:nvPr/>
        </p:nvSpPr>
        <p:spPr>
          <a:xfrm>
            <a:off x="3410712" y="4773168"/>
            <a:ext cx="50292" cy="621792"/>
          </a:xfrm>
          <a:prstGeom prst="rect">
            <a:avLst/>
          </a:prstGeom>
          <a:solidFill>
            <a:srgbClr val="8B8E91"/>
          </a:solidFill>
          <a:ln w="12700">
            <a:solidFill>
              <a:srgbClr val="8B8E91"/>
            </a:solidFill>
            <a:prstDash val="solid"/>
          </a:ln>
        </p:spPr>
      </p:sp>
      <p:sp>
        <p:nvSpPr>
          <p:cNvPr id="81" name="Text 76"/>
          <p:cNvSpPr txBox="1"/>
          <p:nvPr/>
        </p:nvSpPr>
        <p:spPr>
          <a:xfrm>
            <a:off x="3593592" y="4873752"/>
            <a:ext cx="2286000" cy="2362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8B8E9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APPROX. TWO EARLY STAFF</a:t>
            </a:r>
            <a:endParaRPr lang="en-US" sz="980" dirty="0"/>
          </a:p>
        </p:txBody>
      </p:sp>
      <p:sp>
        <p:nvSpPr>
          <p:cNvPr id="82" name="Text 77"/>
          <p:cNvSpPr txBox="1"/>
          <p:nvPr/>
        </p:nvSpPr>
        <p:spPr>
          <a:xfrm>
            <a:off x="3593592" y="5071628"/>
            <a:ext cx="2286000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Identities OPEN</a:t>
            </a:r>
            <a:endParaRPr lang="en-US" sz="840" dirty="0"/>
          </a:p>
        </p:txBody>
      </p:sp>
      <p:sp>
        <p:nvSpPr>
          <p:cNvPr id="83" name="Shape 78"/>
          <p:cNvSpPr/>
          <p:nvPr/>
        </p:nvSpPr>
        <p:spPr>
          <a:xfrm>
            <a:off x="6080760" y="3566160"/>
            <a:ext cx="0" cy="1005840"/>
          </a:xfrm>
          <a:prstGeom prst="line">
            <a:avLst/>
          </a:prstGeom>
          <a:noFill/>
          <a:ln w="10160">
            <a:solidFill>
              <a:srgbClr val="101214"/>
            </a:solidFill>
            <a:prstDash val="solid"/>
          </a:ln>
        </p:spPr>
      </p:sp>
      <p:sp>
        <p:nvSpPr>
          <p:cNvPr id="84" name="Shape 79"/>
          <p:cNvSpPr/>
          <p:nvPr/>
        </p:nvSpPr>
        <p:spPr>
          <a:xfrm>
            <a:off x="4727448" y="4572000"/>
            <a:ext cx="1353312" cy="0"/>
          </a:xfrm>
          <a:prstGeom prst="line">
            <a:avLst/>
          </a:prstGeom>
          <a:noFill/>
          <a:ln w="10160">
            <a:solidFill>
              <a:srgbClr val="101214"/>
            </a:solidFill>
            <a:prstDash val="solid"/>
          </a:ln>
        </p:spPr>
      </p:sp>
      <p:sp>
        <p:nvSpPr>
          <p:cNvPr id="85" name="Shape 80"/>
          <p:cNvSpPr/>
          <p:nvPr/>
        </p:nvSpPr>
        <p:spPr>
          <a:xfrm>
            <a:off x="4727448" y="4572000"/>
            <a:ext cx="0" cy="201168"/>
          </a:xfrm>
          <a:prstGeom prst="line">
            <a:avLst/>
          </a:prstGeom>
          <a:noFill/>
          <a:ln w="10160">
            <a:solidFill>
              <a:srgbClr val="101214"/>
            </a:solidFill>
            <a:prstDash val="solid"/>
            <a:tailEnd type="triangle"/>
          </a:ln>
        </p:spPr>
      </p:sp>
      <p:sp>
        <p:nvSpPr>
          <p:cNvPr id="86" name="Shape 81"/>
          <p:cNvSpPr/>
          <p:nvPr/>
        </p:nvSpPr>
        <p:spPr>
          <a:xfrm>
            <a:off x="6318504" y="4773168"/>
            <a:ext cx="2633472" cy="621792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0160">
            <a:solidFill>
              <a:srgbClr val="101214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87" name="Shape 82"/>
          <p:cNvSpPr/>
          <p:nvPr/>
        </p:nvSpPr>
        <p:spPr>
          <a:xfrm>
            <a:off x="6318504" y="4773168"/>
            <a:ext cx="50292" cy="621792"/>
          </a:xfrm>
          <a:prstGeom prst="rect">
            <a:avLst/>
          </a:prstGeom>
          <a:solidFill>
            <a:srgbClr val="315F4D"/>
          </a:solidFill>
          <a:ln w="12700">
            <a:solidFill>
              <a:srgbClr val="315F4D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6501384" y="4873752"/>
            <a:ext cx="2286000" cy="2362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1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OWEN KESSLER</a:t>
            </a:r>
            <a:endParaRPr lang="en-US" sz="1110" dirty="0"/>
          </a:p>
        </p:txBody>
      </p:sp>
      <p:sp>
        <p:nvSpPr>
          <p:cNvPr id="89" name="Text 84"/>
          <p:cNvSpPr txBox="1"/>
          <p:nvPr/>
        </p:nvSpPr>
        <p:spPr>
          <a:xfrm>
            <a:off x="6501384" y="5071628"/>
            <a:ext cx="2286000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Research engineering</a:t>
            </a:r>
            <a:endParaRPr lang="en-US" sz="840" dirty="0"/>
          </a:p>
        </p:txBody>
      </p:sp>
      <p:sp>
        <p:nvSpPr>
          <p:cNvPr id="90" name="Shape 85"/>
          <p:cNvSpPr/>
          <p:nvPr/>
        </p:nvSpPr>
        <p:spPr>
          <a:xfrm>
            <a:off x="6080760" y="3566160"/>
            <a:ext cx="0" cy="1005840"/>
          </a:xfrm>
          <a:prstGeom prst="line">
            <a:avLst/>
          </a:prstGeom>
          <a:noFill/>
          <a:ln w="10160">
            <a:solidFill>
              <a:srgbClr val="101214"/>
            </a:solidFill>
            <a:prstDash val="solid"/>
          </a:ln>
        </p:spPr>
      </p:sp>
      <p:sp>
        <p:nvSpPr>
          <p:cNvPr id="91" name="Shape 86"/>
          <p:cNvSpPr/>
          <p:nvPr/>
        </p:nvSpPr>
        <p:spPr>
          <a:xfrm>
            <a:off x="6080760" y="4572000"/>
            <a:ext cx="1554480" cy="0"/>
          </a:xfrm>
          <a:prstGeom prst="line">
            <a:avLst/>
          </a:prstGeom>
          <a:noFill/>
          <a:ln w="10160">
            <a:solidFill>
              <a:srgbClr val="101214"/>
            </a:solidFill>
            <a:prstDash val="solid"/>
          </a:ln>
        </p:spPr>
      </p:sp>
      <p:sp>
        <p:nvSpPr>
          <p:cNvPr id="92" name="Shape 87"/>
          <p:cNvSpPr/>
          <p:nvPr/>
        </p:nvSpPr>
        <p:spPr>
          <a:xfrm>
            <a:off x="7635240" y="4572000"/>
            <a:ext cx="0" cy="201168"/>
          </a:xfrm>
          <a:prstGeom prst="line">
            <a:avLst/>
          </a:prstGeom>
          <a:noFill/>
          <a:ln w="10160">
            <a:solidFill>
              <a:srgbClr val="101214"/>
            </a:solidFill>
            <a:prstDash val="solid"/>
            <a:tailEnd type="triangle"/>
          </a:ln>
        </p:spPr>
      </p:sp>
      <p:sp>
        <p:nvSpPr>
          <p:cNvPr id="93" name="Shape 88"/>
          <p:cNvSpPr/>
          <p:nvPr/>
        </p:nvSpPr>
        <p:spPr>
          <a:xfrm>
            <a:off x="9226296" y="4773168"/>
            <a:ext cx="2633472" cy="621792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0160">
            <a:solidFill>
              <a:srgbClr val="101214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94" name="Shape 89"/>
          <p:cNvSpPr/>
          <p:nvPr/>
        </p:nvSpPr>
        <p:spPr>
          <a:xfrm>
            <a:off x="9226296" y="4773168"/>
            <a:ext cx="50292" cy="621792"/>
          </a:xfrm>
          <a:prstGeom prst="rect">
            <a:avLst/>
          </a:prstGeom>
          <a:solidFill>
            <a:srgbClr val="315F4D"/>
          </a:solidFill>
          <a:ln w="12700">
            <a:solidFill>
              <a:srgbClr val="315F4D"/>
            </a:solidFill>
            <a:prstDash val="solid"/>
          </a:ln>
        </p:spPr>
      </p:sp>
      <p:sp>
        <p:nvSpPr>
          <p:cNvPr id="95" name="Text 90"/>
          <p:cNvSpPr txBox="1"/>
          <p:nvPr/>
        </p:nvSpPr>
        <p:spPr>
          <a:xfrm>
            <a:off x="9409176" y="4873752"/>
            <a:ext cx="2286000" cy="2362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1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LAYLA HADDAD</a:t>
            </a:r>
            <a:endParaRPr lang="en-US" sz="1110" dirty="0"/>
          </a:p>
        </p:txBody>
      </p:sp>
      <p:sp>
        <p:nvSpPr>
          <p:cNvPr id="96" name="Text 91"/>
          <p:cNvSpPr txBox="1"/>
          <p:nvPr/>
        </p:nvSpPr>
        <p:spPr>
          <a:xfrm>
            <a:off x="9409176" y="5071628"/>
            <a:ext cx="2286000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Evaluation &amp; rules</a:t>
            </a:r>
            <a:endParaRPr lang="en-US" sz="840" dirty="0"/>
          </a:p>
        </p:txBody>
      </p:sp>
      <p:sp>
        <p:nvSpPr>
          <p:cNvPr id="97" name="Shape 92"/>
          <p:cNvSpPr/>
          <p:nvPr/>
        </p:nvSpPr>
        <p:spPr>
          <a:xfrm>
            <a:off x="6080760" y="3566160"/>
            <a:ext cx="0" cy="1005840"/>
          </a:xfrm>
          <a:prstGeom prst="line">
            <a:avLst/>
          </a:prstGeom>
          <a:noFill/>
          <a:ln w="10160">
            <a:solidFill>
              <a:srgbClr val="101214"/>
            </a:solidFill>
            <a:prstDash val="solid"/>
          </a:ln>
        </p:spPr>
      </p:sp>
      <p:sp>
        <p:nvSpPr>
          <p:cNvPr id="98" name="Shape 93"/>
          <p:cNvSpPr/>
          <p:nvPr/>
        </p:nvSpPr>
        <p:spPr>
          <a:xfrm>
            <a:off x="6080760" y="4572000"/>
            <a:ext cx="4462272" cy="0"/>
          </a:xfrm>
          <a:prstGeom prst="line">
            <a:avLst/>
          </a:prstGeom>
          <a:noFill/>
          <a:ln w="10160">
            <a:solidFill>
              <a:srgbClr val="101214"/>
            </a:solidFill>
            <a:prstDash val="solid"/>
          </a:ln>
        </p:spPr>
      </p:sp>
      <p:sp>
        <p:nvSpPr>
          <p:cNvPr id="99" name="Shape 94"/>
          <p:cNvSpPr/>
          <p:nvPr/>
        </p:nvSpPr>
        <p:spPr>
          <a:xfrm>
            <a:off x="10543032" y="4572000"/>
            <a:ext cx="0" cy="201168"/>
          </a:xfrm>
          <a:prstGeom prst="line">
            <a:avLst/>
          </a:prstGeom>
          <a:noFill/>
          <a:ln w="10160">
            <a:solidFill>
              <a:srgbClr val="101214"/>
            </a:solidFill>
            <a:prstDash val="solid"/>
            <a:tailEnd type="triangle"/>
          </a:ln>
        </p:spPr>
      </p:sp>
      <p:sp>
        <p:nvSpPr>
          <p:cNvPr id="100" name="Shape 95"/>
          <p:cNvSpPr/>
          <p:nvPr/>
        </p:nvSpPr>
        <p:spPr>
          <a:xfrm>
            <a:off x="658368" y="6016752"/>
            <a:ext cx="10881360" cy="310896"/>
          </a:xfrm>
          <a:prstGeom prst="roundRect">
            <a:avLst>
              <a:gd name="adj" fmla="val 7353"/>
            </a:avLst>
          </a:prstGeom>
          <a:solidFill>
            <a:srgbClr val="FCFBF8"/>
          </a:solidFill>
          <a:ln w="10160">
            <a:solidFill>
              <a:srgbClr val="D9D5CD"/>
            </a:solidFill>
            <a:prstDash val="solid"/>
          </a:ln>
        </p:spPr>
      </p:sp>
      <p:sp>
        <p:nvSpPr>
          <p:cNvPr id="101" name="Shape 96"/>
          <p:cNvSpPr/>
          <p:nvPr/>
        </p:nvSpPr>
        <p:spPr>
          <a:xfrm>
            <a:off x="658368" y="6016752"/>
            <a:ext cx="64008" cy="310896"/>
          </a:xfrm>
          <a:prstGeom prst="rect">
            <a:avLst/>
          </a:prstGeom>
          <a:solidFill>
            <a:srgbClr val="315F4D"/>
          </a:solidFill>
          <a:ln w="12700">
            <a:solidFill>
              <a:srgbClr val="315F4D"/>
            </a:solidFill>
            <a:prstDash val="solid"/>
          </a:ln>
        </p:spPr>
      </p:sp>
      <p:sp>
        <p:nvSpPr>
          <p:cNvPr id="102" name="Text 97"/>
          <p:cNvSpPr txBox="1"/>
          <p:nvPr/>
        </p:nvSpPr>
        <p:spPr>
          <a:xfrm>
            <a:off x="841248" y="6044184"/>
            <a:ext cx="10561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Operating boundary: no Willow experiment enters production without an operating owner and qualification gate. Pittsburgh holds experimental authority; Sacramento provides institutional accountability.</a:t>
            </a:r>
            <a:endParaRPr lang="en-US" sz="860" dirty="0"/>
          </a:p>
        </p:txBody>
      </p:sp>
      <p:sp>
        <p:nvSpPr>
          <p:cNvPr id="103" name="Text 98"/>
          <p:cNvSpPr txBox="1"/>
          <p:nvPr/>
        </p:nvSpPr>
        <p:spPr>
          <a:xfrm>
            <a:off x="438912" y="6510528"/>
            <a:ext cx="4114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Canon date: August 31, 2026</a:t>
            </a:r>
            <a:endParaRPr lang="en-US" sz="760" dirty="0"/>
          </a:p>
        </p:txBody>
      </p:sp>
      <p:sp>
        <p:nvSpPr>
          <p:cNvPr id="104" name="Text 99"/>
          <p:cNvSpPr txBox="1"/>
          <p:nvPr/>
        </p:nvSpPr>
        <p:spPr>
          <a:xfrm>
            <a:off x="4572000" y="647395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Solid line = unit leadership or containment  •  Dashed line = cross-company interface  •  OPEN = unresolved by canon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77A7D"/>
                </a:solidFill>
                <a:latin typeface="Inter Display"/>
                <a:ea typeface="Inter Display"/>
                <a:cs typeface="Inter Display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1480" y="210312"/>
            <a:ext cx="347472" cy="34747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8288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spc="120" kern="0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SABLE HARBOR</a:t>
            </a:r>
            <a:endParaRPr lang="en-US" sz="135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40233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70" spc="110" kern="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ORGANIZATION BRIEFING</a:t>
            </a:r>
            <a:endParaRPr lang="en-US" sz="770" dirty="0"/>
          </a:p>
        </p:txBody>
      </p:sp>
      <p:sp>
        <p:nvSpPr>
          <p:cNvPr id="5" name="Shape 2"/>
          <p:cNvSpPr/>
          <p:nvPr/>
        </p:nvSpPr>
        <p:spPr>
          <a:xfrm>
            <a:off x="2468880" y="182880"/>
            <a:ext cx="0" cy="393192"/>
          </a:xfrm>
          <a:prstGeom prst="line">
            <a:avLst/>
          </a:prstGeom>
          <a:noFill/>
          <a:ln w="12700">
            <a:solidFill>
              <a:srgbClr val="D9D5CD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24912" y="173736"/>
            <a:ext cx="393192" cy="39319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218688" y="137160"/>
            <a:ext cx="8138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spc="60" kern="0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ATLAS MERIDIAN</a:t>
            </a:r>
            <a:endParaRPr lang="en-US" sz="2300" dirty="0"/>
          </a:p>
        </p:txBody>
      </p:sp>
      <p:sp>
        <p:nvSpPr>
          <p:cNvPr id="8" name="Text 4"/>
          <p:cNvSpPr txBox="1"/>
          <p:nvPr/>
        </p:nvSpPr>
        <p:spPr>
          <a:xfrm>
            <a:off x="3218688" y="448056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2026 bridge organization for repeatability and controlled commercialization</a:t>
            </a:r>
            <a:endParaRPr lang="en-US" sz="940" dirty="0"/>
          </a:p>
        </p:txBody>
      </p:sp>
      <p:sp>
        <p:nvSpPr>
          <p:cNvPr id="9" name="Shape 5"/>
          <p:cNvSpPr/>
          <p:nvPr/>
        </p:nvSpPr>
        <p:spPr>
          <a:xfrm>
            <a:off x="3218688" y="658368"/>
            <a:ext cx="8156448" cy="0"/>
          </a:xfrm>
          <a:prstGeom prst="line">
            <a:avLst/>
          </a:prstGeom>
          <a:noFill/>
          <a:ln w="30480">
            <a:solidFill>
              <a:srgbClr val="2E6F9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38912" y="841248"/>
            <a:ext cx="11320272" cy="749808"/>
          </a:xfrm>
          <a:prstGeom prst="roundRect">
            <a:avLst>
              <a:gd name="adj" fmla="val 6098"/>
            </a:avLst>
          </a:prstGeom>
          <a:solidFill>
            <a:srgbClr val="FCFBF8"/>
          </a:solidFill>
          <a:ln w="12700">
            <a:solidFill>
              <a:srgbClr val="D9D5CD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38912" y="841248"/>
            <a:ext cx="73152" cy="749808"/>
          </a:xfrm>
          <a:prstGeom prst="rect">
            <a:avLst/>
          </a:prstGeom>
          <a:solidFill>
            <a:srgbClr val="2E6F96"/>
          </a:solidFill>
          <a:ln w="12700">
            <a:solidFill>
              <a:srgbClr val="2E6F9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94944" y="950976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b="1" spc="80" kern="0" dirty="0">
                <a:solidFill>
                  <a:srgbClr val="2E6F96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HQ / OPERATING CENTER</a:t>
            </a:r>
            <a:endParaRPr lang="en-US" sz="710" dirty="0"/>
          </a:p>
        </p:txBody>
      </p:sp>
      <p:sp>
        <p:nvSpPr>
          <p:cNvPr id="13" name="Text 9"/>
          <p:cNvSpPr txBox="1"/>
          <p:nvPr/>
        </p:nvSpPr>
        <p:spPr>
          <a:xfrm>
            <a:off x="694944" y="1124712"/>
            <a:ext cx="2331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Sacramento, California</a:t>
            </a:r>
            <a:endParaRPr lang="en-US" sz="103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Bridge-program home</a:t>
            </a:r>
            <a:endParaRPr lang="en-US" sz="1030" dirty="0"/>
          </a:p>
        </p:txBody>
      </p:sp>
      <p:sp>
        <p:nvSpPr>
          <p:cNvPr id="14" name="Text 10"/>
          <p:cNvSpPr txBox="1"/>
          <p:nvPr/>
        </p:nvSpPr>
        <p:spPr>
          <a:xfrm>
            <a:off x="3118104" y="950976"/>
            <a:ext cx="5138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b="1" spc="80" kern="0" dirty="0">
                <a:solidFill>
                  <a:srgbClr val="2E6F96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BUSINESS</a:t>
            </a:r>
            <a:endParaRPr lang="en-US" sz="710" dirty="0"/>
          </a:p>
        </p:txBody>
      </p:sp>
      <p:sp>
        <p:nvSpPr>
          <p:cNvPr id="15" name="Text 11"/>
          <p:cNvSpPr txBox="1"/>
          <p:nvPr/>
        </p:nvSpPr>
        <p:spPr>
          <a:xfrm>
            <a:off x="3118104" y="1124712"/>
            <a:ext cx="51389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Disciplined investigative decision-support system operating across represented industrial evidence.</a:t>
            </a:r>
            <a:endParaRPr lang="en-US" sz="1030" dirty="0"/>
          </a:p>
        </p:txBody>
      </p:sp>
      <p:sp>
        <p:nvSpPr>
          <p:cNvPr id="16" name="Text 12"/>
          <p:cNvSpPr txBox="1"/>
          <p:nvPr/>
        </p:nvSpPr>
        <p:spPr>
          <a:xfrm>
            <a:off x="8366760" y="950976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b="1" spc="80" kern="0" dirty="0">
                <a:solidFill>
                  <a:srgbClr val="2E6F96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CURRENT LEAD</a:t>
            </a:r>
            <a:endParaRPr lang="en-US" sz="710" dirty="0"/>
          </a:p>
        </p:txBody>
      </p:sp>
      <p:sp>
        <p:nvSpPr>
          <p:cNvPr id="17" name="Text 13"/>
          <p:cNvSpPr txBox="1"/>
          <p:nvPr/>
        </p:nvSpPr>
        <p:spPr>
          <a:xfrm>
            <a:off x="8366760" y="1124712"/>
            <a:ext cx="1600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Simone Vale</a:t>
            </a:r>
            <a:endParaRPr lang="en-US" sz="1030" dirty="0"/>
          </a:p>
        </p:txBody>
      </p:sp>
      <p:sp>
        <p:nvSpPr>
          <p:cNvPr id="18" name="Text 14"/>
          <p:cNvSpPr txBox="1"/>
          <p:nvPr/>
        </p:nvSpPr>
        <p:spPr>
          <a:xfrm>
            <a:off x="10085832" y="950976"/>
            <a:ext cx="1426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b="1" spc="80" kern="0" dirty="0">
                <a:solidFill>
                  <a:srgbClr val="2E6F96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STATUS</a:t>
            </a:r>
            <a:endParaRPr lang="en-US" sz="710" dirty="0"/>
          </a:p>
        </p:txBody>
      </p:sp>
      <p:sp>
        <p:nvSpPr>
          <p:cNvPr id="19" name="Text 15"/>
          <p:cNvSpPr txBox="1"/>
          <p:nvPr/>
        </p:nvSpPr>
        <p:spPr>
          <a:xfrm>
            <a:off x="10085832" y="1124712"/>
            <a:ext cx="14264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Controlled 2026 product bridge</a:t>
            </a:r>
            <a:endParaRPr lang="en-US" sz="1030" dirty="0"/>
          </a:p>
        </p:txBody>
      </p:sp>
      <p:sp>
        <p:nvSpPr>
          <p:cNvPr id="20" name="Shape 16"/>
          <p:cNvSpPr/>
          <p:nvPr/>
        </p:nvSpPr>
        <p:spPr>
          <a:xfrm>
            <a:off x="4105656" y="1865376"/>
            <a:ext cx="3986784" cy="713232"/>
          </a:xfrm>
          <a:prstGeom prst="roundRect">
            <a:avLst>
              <a:gd name="adj" fmla="val 4487"/>
            </a:avLst>
          </a:prstGeom>
          <a:solidFill>
            <a:srgbClr val="FFFFFF"/>
          </a:solidFill>
          <a:ln w="10160">
            <a:solidFill>
              <a:srgbClr val="101214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105656" y="1865376"/>
            <a:ext cx="50292" cy="713232"/>
          </a:xfrm>
          <a:prstGeom prst="rect">
            <a:avLst/>
          </a:prstGeom>
          <a:solidFill>
            <a:srgbClr val="2E6F96"/>
          </a:solidFill>
          <a:ln w="12700">
            <a:solidFill>
              <a:srgbClr val="2E6F96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51960" y="2029968"/>
            <a:ext cx="384048" cy="38404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764024" y="1965960"/>
            <a:ext cx="3163824" cy="2710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3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ATLAS MERIDIAN</a:t>
            </a:r>
            <a:endParaRPr lang="en-US" sz="1530" dirty="0"/>
          </a:p>
        </p:txBody>
      </p:sp>
      <p:sp>
        <p:nvSpPr>
          <p:cNvPr id="24" name="Text 19"/>
          <p:cNvSpPr txBox="1"/>
          <p:nvPr/>
        </p:nvSpPr>
        <p:spPr>
          <a:xfrm>
            <a:off x="4764024" y="2207727"/>
            <a:ext cx="3163824" cy="313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9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Investigative decision-support product</a:t>
            </a:r>
            <a:endParaRPr lang="en-US" sz="990" dirty="0"/>
          </a:p>
        </p:txBody>
      </p:sp>
      <p:sp>
        <p:nvSpPr>
          <p:cNvPr id="25" name="Shape 20"/>
          <p:cNvSpPr/>
          <p:nvPr/>
        </p:nvSpPr>
        <p:spPr>
          <a:xfrm>
            <a:off x="4443984" y="2798064"/>
            <a:ext cx="3310128" cy="694944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0160">
            <a:solidFill>
              <a:srgbClr val="101214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443984" y="2798064"/>
            <a:ext cx="50292" cy="694944"/>
          </a:xfrm>
          <a:prstGeom prst="rect">
            <a:avLst/>
          </a:prstGeom>
          <a:solidFill>
            <a:srgbClr val="2E6F96"/>
          </a:solidFill>
          <a:ln w="12700">
            <a:solidFill>
              <a:srgbClr val="2E6F96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4626864" y="2898648"/>
            <a:ext cx="2962656" cy="2640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2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SIMONE VALE</a:t>
            </a:r>
            <a:endParaRPr lang="en-US" sz="1420" dirty="0"/>
          </a:p>
        </p:txBody>
      </p:sp>
      <p:sp>
        <p:nvSpPr>
          <p:cNvPr id="28" name="Text 23"/>
          <p:cNvSpPr txBox="1"/>
          <p:nvPr/>
        </p:nvSpPr>
        <p:spPr>
          <a:xfrm>
            <a:off x="4626864" y="3131637"/>
            <a:ext cx="2962656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9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Transition / product lead</a:t>
            </a:r>
            <a:endParaRPr lang="en-US" sz="990" dirty="0"/>
          </a:p>
        </p:txBody>
      </p:sp>
      <p:sp>
        <p:nvSpPr>
          <p:cNvPr id="29" name="Shape 24"/>
          <p:cNvSpPr/>
          <p:nvPr/>
        </p:nvSpPr>
        <p:spPr>
          <a:xfrm>
            <a:off x="6099048" y="2578608"/>
            <a:ext cx="0" cy="219456"/>
          </a:xfrm>
          <a:prstGeom prst="line">
            <a:avLst/>
          </a:prstGeom>
          <a:noFill/>
          <a:ln w="15240">
            <a:solidFill>
              <a:srgbClr val="101214"/>
            </a:solidFill>
            <a:prstDash val="solid"/>
            <a:tailEnd type="triangle"/>
          </a:ln>
        </p:spPr>
      </p:sp>
      <p:sp>
        <p:nvSpPr>
          <p:cNvPr id="30" name="Shape 25"/>
          <p:cNvSpPr/>
          <p:nvPr/>
        </p:nvSpPr>
        <p:spPr>
          <a:xfrm>
            <a:off x="438912" y="3822192"/>
            <a:ext cx="1773936" cy="804672"/>
          </a:xfrm>
          <a:prstGeom prst="roundRect">
            <a:avLst>
              <a:gd name="adj" fmla="val 3977"/>
            </a:avLst>
          </a:prstGeom>
          <a:solidFill>
            <a:srgbClr val="FFFFFF"/>
          </a:solidFill>
          <a:ln w="10160">
            <a:solidFill>
              <a:srgbClr val="101214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438912" y="3822192"/>
            <a:ext cx="50292" cy="804672"/>
          </a:xfrm>
          <a:prstGeom prst="rect">
            <a:avLst/>
          </a:prstGeom>
          <a:solidFill>
            <a:srgbClr val="C45124"/>
          </a:solidFill>
          <a:ln w="12700">
            <a:solidFill>
              <a:srgbClr val="C45124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621792" y="392277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PRIYA RAMAN / FOUNDRY</a:t>
            </a:r>
            <a:endParaRPr lang="en-US" sz="940" dirty="0"/>
          </a:p>
        </p:txBody>
      </p:sp>
      <p:sp>
        <p:nvSpPr>
          <p:cNvPr id="33" name="Text 28"/>
          <p:cNvSpPr txBox="1"/>
          <p:nvPr/>
        </p:nvSpPr>
        <p:spPr>
          <a:xfrm>
            <a:off x="621792" y="4208435"/>
            <a:ext cx="1426464" cy="354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Product &amp; represented terrain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6099048" y="3493008"/>
            <a:ext cx="0" cy="164592"/>
          </a:xfrm>
          <a:prstGeom prst="line">
            <a:avLst/>
          </a:prstGeom>
          <a:noFill/>
          <a:ln w="10160">
            <a:solidFill>
              <a:srgbClr val="C45124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1325880" y="3657600"/>
            <a:ext cx="4773168" cy="0"/>
          </a:xfrm>
          <a:prstGeom prst="line">
            <a:avLst/>
          </a:prstGeom>
          <a:noFill/>
          <a:ln w="10160">
            <a:solidFill>
              <a:srgbClr val="C45124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1325880" y="3657600"/>
            <a:ext cx="0" cy="164592"/>
          </a:xfrm>
          <a:prstGeom prst="line">
            <a:avLst/>
          </a:prstGeom>
          <a:noFill/>
          <a:ln w="10160">
            <a:solidFill>
              <a:srgbClr val="C45124"/>
            </a:solidFill>
            <a:prstDash val="solid"/>
            <a:tailEnd type="triangle"/>
          </a:ln>
        </p:spPr>
      </p:sp>
      <p:sp>
        <p:nvSpPr>
          <p:cNvPr id="37" name="Shape 32"/>
          <p:cNvSpPr/>
          <p:nvPr/>
        </p:nvSpPr>
        <p:spPr>
          <a:xfrm>
            <a:off x="2395728" y="3822192"/>
            <a:ext cx="1773936" cy="804672"/>
          </a:xfrm>
          <a:prstGeom prst="roundRect">
            <a:avLst>
              <a:gd name="adj" fmla="val 3977"/>
            </a:avLst>
          </a:prstGeom>
          <a:solidFill>
            <a:srgbClr val="FFFFFF"/>
          </a:solidFill>
          <a:ln w="10160">
            <a:solidFill>
              <a:srgbClr val="101214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2395728" y="3822192"/>
            <a:ext cx="50292" cy="804672"/>
          </a:xfrm>
          <a:prstGeom prst="rect">
            <a:avLst/>
          </a:prstGeom>
          <a:solidFill>
            <a:srgbClr val="315F4D"/>
          </a:solidFill>
          <a:ln w="12700">
            <a:solidFill>
              <a:srgbClr val="315F4D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2578608" y="392277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GID VOSS / WILLOW</a:t>
            </a:r>
            <a:endParaRPr lang="en-US" sz="940" dirty="0"/>
          </a:p>
        </p:txBody>
      </p:sp>
      <p:sp>
        <p:nvSpPr>
          <p:cNvPr id="40" name="Text 35"/>
          <p:cNvSpPr txBox="1"/>
          <p:nvPr/>
        </p:nvSpPr>
        <p:spPr>
          <a:xfrm>
            <a:off x="2578608" y="4208435"/>
            <a:ext cx="1426464" cy="354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Research &amp; investigation</a:t>
            </a:r>
            <a:endParaRPr lang="en-US" sz="800" dirty="0"/>
          </a:p>
        </p:txBody>
      </p:sp>
      <p:sp>
        <p:nvSpPr>
          <p:cNvPr id="41" name="Shape 36"/>
          <p:cNvSpPr/>
          <p:nvPr/>
        </p:nvSpPr>
        <p:spPr>
          <a:xfrm>
            <a:off x="6099048" y="3493008"/>
            <a:ext cx="0" cy="164592"/>
          </a:xfrm>
          <a:prstGeom prst="line">
            <a:avLst/>
          </a:prstGeom>
          <a:noFill/>
          <a:ln w="10160">
            <a:solidFill>
              <a:srgbClr val="315F4D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3282696" y="3657600"/>
            <a:ext cx="2816352" cy="0"/>
          </a:xfrm>
          <a:prstGeom prst="line">
            <a:avLst/>
          </a:prstGeom>
          <a:noFill/>
          <a:ln w="10160">
            <a:solidFill>
              <a:srgbClr val="315F4D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3282696" y="3657600"/>
            <a:ext cx="0" cy="164592"/>
          </a:xfrm>
          <a:prstGeom prst="line">
            <a:avLst/>
          </a:prstGeom>
          <a:noFill/>
          <a:ln w="10160">
            <a:solidFill>
              <a:srgbClr val="315F4D"/>
            </a:solidFill>
            <a:prstDash val="solid"/>
            <a:tailEnd type="triangle"/>
          </a:ln>
        </p:spPr>
      </p:sp>
      <p:sp>
        <p:nvSpPr>
          <p:cNvPr id="44" name="Shape 39"/>
          <p:cNvSpPr/>
          <p:nvPr/>
        </p:nvSpPr>
        <p:spPr>
          <a:xfrm>
            <a:off x="4352544" y="3822192"/>
            <a:ext cx="1773936" cy="804672"/>
          </a:xfrm>
          <a:prstGeom prst="roundRect">
            <a:avLst>
              <a:gd name="adj" fmla="val 3977"/>
            </a:avLst>
          </a:prstGeom>
          <a:solidFill>
            <a:srgbClr val="FFFFFF"/>
          </a:solidFill>
          <a:ln w="10160">
            <a:solidFill>
              <a:srgbClr val="101214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45" name="Shape 40"/>
          <p:cNvSpPr/>
          <p:nvPr/>
        </p:nvSpPr>
        <p:spPr>
          <a:xfrm>
            <a:off x="4352544" y="3822192"/>
            <a:ext cx="50292" cy="804672"/>
          </a:xfrm>
          <a:prstGeom prst="rect">
            <a:avLst/>
          </a:prstGeom>
          <a:solidFill>
            <a:srgbClr val="C45124"/>
          </a:solidFill>
          <a:ln w="12700">
            <a:solidFill>
              <a:srgbClr val="C45124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4535424" y="392277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ELENA TORRES</a:t>
            </a:r>
            <a:endParaRPr lang="en-US" sz="940" dirty="0"/>
          </a:p>
        </p:txBody>
      </p:sp>
      <p:sp>
        <p:nvSpPr>
          <p:cNvPr id="47" name="Text 42"/>
          <p:cNvSpPr txBox="1"/>
          <p:nvPr/>
        </p:nvSpPr>
        <p:spPr>
          <a:xfrm>
            <a:off x="4535424" y="4208435"/>
            <a:ext cx="1426464" cy="354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Deployment &amp; customer reality</a:t>
            </a:r>
            <a:endParaRPr lang="en-US" sz="800" dirty="0"/>
          </a:p>
        </p:txBody>
      </p:sp>
      <p:sp>
        <p:nvSpPr>
          <p:cNvPr id="48" name="Shape 43"/>
          <p:cNvSpPr/>
          <p:nvPr/>
        </p:nvSpPr>
        <p:spPr>
          <a:xfrm>
            <a:off x="6099048" y="3493008"/>
            <a:ext cx="0" cy="164592"/>
          </a:xfrm>
          <a:prstGeom prst="line">
            <a:avLst/>
          </a:prstGeom>
          <a:noFill/>
          <a:ln w="10160">
            <a:solidFill>
              <a:srgbClr val="C45124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5239512" y="3657600"/>
            <a:ext cx="859536" cy="0"/>
          </a:xfrm>
          <a:prstGeom prst="line">
            <a:avLst/>
          </a:prstGeom>
          <a:noFill/>
          <a:ln w="10160">
            <a:solidFill>
              <a:srgbClr val="C45124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5239512" y="3657600"/>
            <a:ext cx="0" cy="164592"/>
          </a:xfrm>
          <a:prstGeom prst="line">
            <a:avLst/>
          </a:prstGeom>
          <a:noFill/>
          <a:ln w="10160">
            <a:solidFill>
              <a:srgbClr val="C45124"/>
            </a:solidFill>
            <a:prstDash val="solid"/>
            <a:tailEnd type="triangle"/>
          </a:ln>
        </p:spPr>
      </p:sp>
      <p:sp>
        <p:nvSpPr>
          <p:cNvPr id="51" name="Shape 46"/>
          <p:cNvSpPr/>
          <p:nvPr/>
        </p:nvSpPr>
        <p:spPr>
          <a:xfrm>
            <a:off x="6309360" y="3822192"/>
            <a:ext cx="1773936" cy="804672"/>
          </a:xfrm>
          <a:prstGeom prst="roundRect">
            <a:avLst>
              <a:gd name="adj" fmla="val 3977"/>
            </a:avLst>
          </a:prstGeom>
          <a:solidFill>
            <a:srgbClr val="FFFFFF"/>
          </a:solidFill>
          <a:ln w="10160">
            <a:solidFill>
              <a:srgbClr val="101214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52" name="Shape 47"/>
          <p:cNvSpPr/>
          <p:nvPr/>
        </p:nvSpPr>
        <p:spPr>
          <a:xfrm>
            <a:off x="6309360" y="3822192"/>
            <a:ext cx="50292" cy="804672"/>
          </a:xfrm>
          <a:prstGeom prst="rect">
            <a:avLst/>
          </a:prstGeom>
          <a:solidFill>
            <a:srgbClr val="B94C2C"/>
          </a:solidFill>
          <a:ln w="12700">
            <a:solidFill>
              <a:srgbClr val="B94C2C"/>
            </a:solidFill>
            <a:prstDash val="solid"/>
          </a:ln>
        </p:spPr>
      </p:sp>
      <p:sp>
        <p:nvSpPr>
          <p:cNvPr id="53" name="Text 48"/>
          <p:cNvSpPr txBox="1"/>
          <p:nvPr/>
        </p:nvSpPr>
        <p:spPr>
          <a:xfrm>
            <a:off x="6492240" y="392277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DR. MAYA OKAFOR</a:t>
            </a:r>
            <a:endParaRPr lang="en-US" sz="940" dirty="0"/>
          </a:p>
        </p:txBody>
      </p:sp>
      <p:sp>
        <p:nvSpPr>
          <p:cNvPr id="54" name="Text 49"/>
          <p:cNvSpPr txBox="1"/>
          <p:nvPr/>
        </p:nvSpPr>
        <p:spPr>
          <a:xfrm>
            <a:off x="6492240" y="4208435"/>
            <a:ext cx="1426464" cy="354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Independent challenge</a:t>
            </a:r>
            <a:endParaRPr lang="en-US" sz="800" dirty="0"/>
          </a:p>
        </p:txBody>
      </p:sp>
      <p:sp>
        <p:nvSpPr>
          <p:cNvPr id="55" name="Shape 50"/>
          <p:cNvSpPr/>
          <p:nvPr/>
        </p:nvSpPr>
        <p:spPr>
          <a:xfrm>
            <a:off x="6099048" y="3493008"/>
            <a:ext cx="0" cy="164592"/>
          </a:xfrm>
          <a:prstGeom prst="line">
            <a:avLst/>
          </a:prstGeom>
          <a:noFill/>
          <a:ln w="10160">
            <a:solidFill>
              <a:srgbClr val="B94C2C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6099048" y="3657600"/>
            <a:ext cx="1097280" cy="0"/>
          </a:xfrm>
          <a:prstGeom prst="line">
            <a:avLst/>
          </a:prstGeom>
          <a:noFill/>
          <a:ln w="10160">
            <a:solidFill>
              <a:srgbClr val="B94C2C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7196328" y="3657600"/>
            <a:ext cx="0" cy="164592"/>
          </a:xfrm>
          <a:prstGeom prst="line">
            <a:avLst/>
          </a:prstGeom>
          <a:noFill/>
          <a:ln w="10160">
            <a:solidFill>
              <a:srgbClr val="B94C2C"/>
            </a:solidFill>
            <a:prstDash val="solid"/>
            <a:tailEnd type="triangle"/>
          </a:ln>
        </p:spPr>
      </p:sp>
      <p:sp>
        <p:nvSpPr>
          <p:cNvPr id="58" name="Shape 53"/>
          <p:cNvSpPr/>
          <p:nvPr/>
        </p:nvSpPr>
        <p:spPr>
          <a:xfrm>
            <a:off x="8266176" y="3822192"/>
            <a:ext cx="1773936" cy="804672"/>
          </a:xfrm>
          <a:prstGeom prst="roundRect">
            <a:avLst>
              <a:gd name="adj" fmla="val 3977"/>
            </a:avLst>
          </a:prstGeom>
          <a:solidFill>
            <a:srgbClr val="FFFFFF"/>
          </a:solidFill>
          <a:ln w="10160">
            <a:solidFill>
              <a:srgbClr val="101214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59" name="Shape 54"/>
          <p:cNvSpPr/>
          <p:nvPr/>
        </p:nvSpPr>
        <p:spPr>
          <a:xfrm>
            <a:off x="8266176" y="3822192"/>
            <a:ext cx="50292" cy="804672"/>
          </a:xfrm>
          <a:prstGeom prst="rect">
            <a:avLst/>
          </a:prstGeom>
          <a:solidFill>
            <a:srgbClr val="2E6F96"/>
          </a:solidFill>
          <a:ln w="12700">
            <a:solidFill>
              <a:srgbClr val="2E6F96"/>
            </a:solidFill>
            <a:prstDash val="solid"/>
          </a:ln>
        </p:spPr>
      </p:sp>
      <p:sp>
        <p:nvSpPr>
          <p:cNvPr id="60" name="Text 55"/>
          <p:cNvSpPr txBox="1"/>
          <p:nvPr/>
        </p:nvSpPr>
        <p:spPr>
          <a:xfrm>
            <a:off x="8449056" y="392277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RACHEL SLOANE</a:t>
            </a:r>
            <a:endParaRPr lang="en-US" sz="940" dirty="0"/>
          </a:p>
        </p:txBody>
      </p:sp>
      <p:sp>
        <p:nvSpPr>
          <p:cNvPr id="61" name="Text 56"/>
          <p:cNvSpPr txBox="1"/>
          <p:nvPr/>
        </p:nvSpPr>
        <p:spPr>
          <a:xfrm>
            <a:off x="8449056" y="4208435"/>
            <a:ext cx="1426464" cy="354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Institutional seam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6099048" y="3493008"/>
            <a:ext cx="0" cy="164592"/>
          </a:xfrm>
          <a:prstGeom prst="line">
            <a:avLst/>
          </a:prstGeom>
          <a:noFill/>
          <a:ln w="10160">
            <a:solidFill>
              <a:srgbClr val="2E6F96"/>
            </a:solidFill>
            <a:prstDash val="solid"/>
          </a:ln>
        </p:spPr>
      </p:sp>
      <p:sp>
        <p:nvSpPr>
          <p:cNvPr id="63" name="Shape 58"/>
          <p:cNvSpPr/>
          <p:nvPr/>
        </p:nvSpPr>
        <p:spPr>
          <a:xfrm>
            <a:off x="6099048" y="3657600"/>
            <a:ext cx="3054096" cy="0"/>
          </a:xfrm>
          <a:prstGeom prst="line">
            <a:avLst/>
          </a:prstGeom>
          <a:noFill/>
          <a:ln w="10160">
            <a:solidFill>
              <a:srgbClr val="2E6F96"/>
            </a:solidFill>
            <a:prstDash val="solid"/>
          </a:ln>
        </p:spPr>
      </p:sp>
      <p:sp>
        <p:nvSpPr>
          <p:cNvPr id="64" name="Shape 59"/>
          <p:cNvSpPr/>
          <p:nvPr/>
        </p:nvSpPr>
        <p:spPr>
          <a:xfrm>
            <a:off x="9153144" y="3657600"/>
            <a:ext cx="0" cy="164592"/>
          </a:xfrm>
          <a:prstGeom prst="line">
            <a:avLst/>
          </a:prstGeom>
          <a:noFill/>
          <a:ln w="10160">
            <a:solidFill>
              <a:srgbClr val="2E6F96"/>
            </a:solidFill>
            <a:prstDash val="solid"/>
            <a:tailEnd type="triangle"/>
          </a:ln>
        </p:spPr>
      </p:sp>
      <p:sp>
        <p:nvSpPr>
          <p:cNvPr id="65" name="Shape 60"/>
          <p:cNvSpPr/>
          <p:nvPr/>
        </p:nvSpPr>
        <p:spPr>
          <a:xfrm>
            <a:off x="10222992" y="3822192"/>
            <a:ext cx="1773936" cy="804672"/>
          </a:xfrm>
          <a:prstGeom prst="roundRect">
            <a:avLst>
              <a:gd name="adj" fmla="val 3977"/>
            </a:avLst>
          </a:prstGeom>
          <a:solidFill>
            <a:srgbClr val="F0EFEC"/>
          </a:solidFill>
          <a:ln w="15240">
            <a:solidFill>
              <a:srgbClr val="8B8E91"/>
            </a:solidFill>
            <a:prstDash val="solid"/>
          </a:ln>
        </p:spPr>
      </p:sp>
      <p:sp>
        <p:nvSpPr>
          <p:cNvPr id="66" name="Shape 61"/>
          <p:cNvSpPr/>
          <p:nvPr/>
        </p:nvSpPr>
        <p:spPr>
          <a:xfrm>
            <a:off x="10222992" y="3822192"/>
            <a:ext cx="50292" cy="804672"/>
          </a:xfrm>
          <a:prstGeom prst="rect">
            <a:avLst/>
          </a:prstGeom>
          <a:solidFill>
            <a:srgbClr val="8B8E91"/>
          </a:solidFill>
          <a:ln w="12700">
            <a:solidFill>
              <a:srgbClr val="8B8E91"/>
            </a:solidFill>
            <a:prstDash val="solid"/>
          </a:ln>
        </p:spPr>
      </p:sp>
      <p:sp>
        <p:nvSpPr>
          <p:cNvPr id="67" name="Text 62"/>
          <p:cNvSpPr txBox="1"/>
          <p:nvPr/>
        </p:nvSpPr>
        <p:spPr>
          <a:xfrm>
            <a:off x="10405872" y="392277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8B8E9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COMMERCIAL INPUT</a:t>
            </a:r>
            <a:endParaRPr lang="en-US" sz="940" dirty="0"/>
          </a:p>
        </p:txBody>
      </p:sp>
      <p:sp>
        <p:nvSpPr>
          <p:cNvPr id="68" name="Text 63"/>
          <p:cNvSpPr txBox="1"/>
          <p:nvPr/>
        </p:nvSpPr>
        <p:spPr>
          <a:xfrm>
            <a:off x="10405872" y="4208435"/>
            <a:ext cx="1426464" cy="354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Owner OPEN</a:t>
            </a:r>
            <a:endParaRPr lang="en-US" sz="800" dirty="0"/>
          </a:p>
        </p:txBody>
      </p:sp>
      <p:sp>
        <p:nvSpPr>
          <p:cNvPr id="69" name="Shape 64"/>
          <p:cNvSpPr/>
          <p:nvPr/>
        </p:nvSpPr>
        <p:spPr>
          <a:xfrm>
            <a:off x="6099048" y="3493008"/>
            <a:ext cx="0" cy="164592"/>
          </a:xfrm>
          <a:prstGeom prst="line">
            <a:avLst/>
          </a:prstGeom>
          <a:noFill/>
          <a:ln w="10160">
            <a:solidFill>
              <a:srgbClr val="8B8E91"/>
            </a:solidFill>
            <a:prstDash val="solid"/>
          </a:ln>
        </p:spPr>
      </p:sp>
      <p:sp>
        <p:nvSpPr>
          <p:cNvPr id="70" name="Shape 65"/>
          <p:cNvSpPr/>
          <p:nvPr/>
        </p:nvSpPr>
        <p:spPr>
          <a:xfrm>
            <a:off x="6099048" y="3657600"/>
            <a:ext cx="5010912" cy="0"/>
          </a:xfrm>
          <a:prstGeom prst="line">
            <a:avLst/>
          </a:prstGeom>
          <a:noFill/>
          <a:ln w="10160">
            <a:solidFill>
              <a:srgbClr val="8B8E91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11109960" y="3657600"/>
            <a:ext cx="0" cy="164592"/>
          </a:xfrm>
          <a:prstGeom prst="line">
            <a:avLst/>
          </a:prstGeom>
          <a:noFill/>
          <a:ln w="10160">
            <a:solidFill>
              <a:srgbClr val="8B8E91"/>
            </a:solidFill>
            <a:prstDash val="solid"/>
            <a:tailEnd type="triangle"/>
          </a:ln>
        </p:spPr>
      </p:sp>
      <p:sp>
        <p:nvSpPr>
          <p:cNvPr id="72" name="Shape 67"/>
          <p:cNvSpPr/>
          <p:nvPr/>
        </p:nvSpPr>
        <p:spPr>
          <a:xfrm>
            <a:off x="4087368" y="5010912"/>
            <a:ext cx="4023360" cy="713232"/>
          </a:xfrm>
          <a:prstGeom prst="roundRect">
            <a:avLst>
              <a:gd name="adj" fmla="val 4487"/>
            </a:avLst>
          </a:prstGeom>
          <a:solidFill>
            <a:srgbClr val="FFFFFF"/>
          </a:solidFill>
          <a:ln w="10160">
            <a:solidFill>
              <a:srgbClr val="101214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73" name="Shape 68"/>
          <p:cNvSpPr/>
          <p:nvPr/>
        </p:nvSpPr>
        <p:spPr>
          <a:xfrm>
            <a:off x="4087368" y="5010912"/>
            <a:ext cx="50292" cy="713232"/>
          </a:xfrm>
          <a:prstGeom prst="rect">
            <a:avLst/>
          </a:prstGeom>
          <a:solidFill>
            <a:srgbClr val="2E6F96"/>
          </a:solidFill>
          <a:ln w="12700">
            <a:solidFill>
              <a:srgbClr val="2E6F96"/>
            </a:solidFill>
            <a:prstDash val="solid"/>
          </a:ln>
        </p:spPr>
      </p:sp>
      <p:sp>
        <p:nvSpPr>
          <p:cNvPr id="74" name="Text 69"/>
          <p:cNvSpPr txBox="1"/>
          <p:nvPr/>
        </p:nvSpPr>
        <p:spPr>
          <a:xfrm>
            <a:off x="4270248" y="5111496"/>
            <a:ext cx="3675888" cy="2710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6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INVESTIGATION GAUNTLET</a:t>
            </a:r>
            <a:endParaRPr lang="en-US" sz="1360" dirty="0"/>
          </a:p>
        </p:txBody>
      </p:sp>
      <p:sp>
        <p:nvSpPr>
          <p:cNvPr id="75" name="Text 70"/>
          <p:cNvSpPr txBox="1"/>
          <p:nvPr/>
        </p:nvSpPr>
        <p:spPr>
          <a:xfrm>
            <a:off x="4270248" y="5353263"/>
            <a:ext cx="3675888" cy="313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Repeatability and provenance gate</a:t>
            </a:r>
            <a:endParaRPr lang="en-US" sz="920" dirty="0"/>
          </a:p>
        </p:txBody>
      </p:sp>
      <p:sp>
        <p:nvSpPr>
          <p:cNvPr id="76" name="Shape 71"/>
          <p:cNvSpPr/>
          <p:nvPr/>
        </p:nvSpPr>
        <p:spPr>
          <a:xfrm>
            <a:off x="1325880" y="4626864"/>
            <a:ext cx="0" cy="192024"/>
          </a:xfrm>
          <a:prstGeom prst="line">
            <a:avLst/>
          </a:prstGeom>
          <a:noFill/>
          <a:ln w="8890">
            <a:solidFill>
              <a:srgbClr val="2E6F96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1325880" y="4818888"/>
            <a:ext cx="4773168" cy="0"/>
          </a:xfrm>
          <a:prstGeom prst="line">
            <a:avLst/>
          </a:prstGeom>
          <a:noFill/>
          <a:ln w="8890">
            <a:solidFill>
              <a:srgbClr val="2E6F96"/>
            </a:solidFill>
            <a:prstDash val="solid"/>
          </a:ln>
        </p:spPr>
      </p:sp>
      <p:sp>
        <p:nvSpPr>
          <p:cNvPr id="78" name="Shape 73"/>
          <p:cNvSpPr/>
          <p:nvPr/>
        </p:nvSpPr>
        <p:spPr>
          <a:xfrm>
            <a:off x="6099048" y="4818888"/>
            <a:ext cx="0" cy="192024"/>
          </a:xfrm>
          <a:prstGeom prst="line">
            <a:avLst/>
          </a:prstGeom>
          <a:noFill/>
          <a:ln w="8890">
            <a:solidFill>
              <a:srgbClr val="2E6F96"/>
            </a:solidFill>
            <a:prstDash val="solid"/>
            <a:tailEnd type="triangle"/>
          </a:ln>
        </p:spPr>
      </p:sp>
      <p:sp>
        <p:nvSpPr>
          <p:cNvPr id="79" name="Shape 74"/>
          <p:cNvSpPr/>
          <p:nvPr/>
        </p:nvSpPr>
        <p:spPr>
          <a:xfrm>
            <a:off x="3282696" y="4626864"/>
            <a:ext cx="0" cy="192024"/>
          </a:xfrm>
          <a:prstGeom prst="line">
            <a:avLst/>
          </a:prstGeom>
          <a:noFill/>
          <a:ln w="8890">
            <a:solidFill>
              <a:srgbClr val="2E6F96"/>
            </a:solidFill>
            <a:prstDash val="solid"/>
          </a:ln>
        </p:spPr>
      </p:sp>
      <p:sp>
        <p:nvSpPr>
          <p:cNvPr id="80" name="Shape 75"/>
          <p:cNvSpPr/>
          <p:nvPr/>
        </p:nvSpPr>
        <p:spPr>
          <a:xfrm>
            <a:off x="3282696" y="4818888"/>
            <a:ext cx="2816352" cy="0"/>
          </a:xfrm>
          <a:prstGeom prst="line">
            <a:avLst/>
          </a:prstGeom>
          <a:noFill/>
          <a:ln w="8890">
            <a:solidFill>
              <a:srgbClr val="2E6F96"/>
            </a:solidFill>
            <a:prstDash val="solid"/>
          </a:ln>
        </p:spPr>
      </p:sp>
      <p:sp>
        <p:nvSpPr>
          <p:cNvPr id="81" name="Shape 76"/>
          <p:cNvSpPr/>
          <p:nvPr/>
        </p:nvSpPr>
        <p:spPr>
          <a:xfrm>
            <a:off x="6099048" y="4818888"/>
            <a:ext cx="0" cy="192024"/>
          </a:xfrm>
          <a:prstGeom prst="line">
            <a:avLst/>
          </a:prstGeom>
          <a:noFill/>
          <a:ln w="8890">
            <a:solidFill>
              <a:srgbClr val="2E6F96"/>
            </a:solidFill>
            <a:prstDash val="solid"/>
            <a:tailEnd type="triangle"/>
          </a:ln>
        </p:spPr>
      </p:sp>
      <p:sp>
        <p:nvSpPr>
          <p:cNvPr id="82" name="Shape 77"/>
          <p:cNvSpPr/>
          <p:nvPr/>
        </p:nvSpPr>
        <p:spPr>
          <a:xfrm>
            <a:off x="5239512" y="4626864"/>
            <a:ext cx="0" cy="192024"/>
          </a:xfrm>
          <a:prstGeom prst="line">
            <a:avLst/>
          </a:prstGeom>
          <a:noFill/>
          <a:ln w="8890">
            <a:solidFill>
              <a:srgbClr val="2E6F96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5239512" y="4818888"/>
            <a:ext cx="859536" cy="0"/>
          </a:xfrm>
          <a:prstGeom prst="line">
            <a:avLst/>
          </a:prstGeom>
          <a:noFill/>
          <a:ln w="8890">
            <a:solidFill>
              <a:srgbClr val="2E6F96"/>
            </a:solidFill>
            <a:prstDash val="solid"/>
          </a:ln>
        </p:spPr>
      </p:sp>
      <p:sp>
        <p:nvSpPr>
          <p:cNvPr id="84" name="Shape 79"/>
          <p:cNvSpPr/>
          <p:nvPr/>
        </p:nvSpPr>
        <p:spPr>
          <a:xfrm>
            <a:off x="6099048" y="4818888"/>
            <a:ext cx="0" cy="192024"/>
          </a:xfrm>
          <a:prstGeom prst="line">
            <a:avLst/>
          </a:prstGeom>
          <a:noFill/>
          <a:ln w="8890">
            <a:solidFill>
              <a:srgbClr val="2E6F96"/>
            </a:solidFill>
            <a:prstDash val="solid"/>
            <a:tailEnd type="triangle"/>
          </a:ln>
        </p:spPr>
      </p:sp>
      <p:sp>
        <p:nvSpPr>
          <p:cNvPr id="85" name="Shape 80"/>
          <p:cNvSpPr/>
          <p:nvPr/>
        </p:nvSpPr>
        <p:spPr>
          <a:xfrm>
            <a:off x="7196328" y="4626864"/>
            <a:ext cx="0" cy="192024"/>
          </a:xfrm>
          <a:prstGeom prst="line">
            <a:avLst/>
          </a:prstGeom>
          <a:noFill/>
          <a:ln w="8890">
            <a:solidFill>
              <a:srgbClr val="2E6F96"/>
            </a:solidFill>
            <a:prstDash val="solid"/>
          </a:ln>
        </p:spPr>
      </p:sp>
      <p:sp>
        <p:nvSpPr>
          <p:cNvPr id="86" name="Shape 81"/>
          <p:cNvSpPr/>
          <p:nvPr/>
        </p:nvSpPr>
        <p:spPr>
          <a:xfrm>
            <a:off x="6099048" y="4818888"/>
            <a:ext cx="1097280" cy="0"/>
          </a:xfrm>
          <a:prstGeom prst="line">
            <a:avLst/>
          </a:prstGeom>
          <a:noFill/>
          <a:ln w="8890">
            <a:solidFill>
              <a:srgbClr val="2E6F96"/>
            </a:solidFill>
            <a:prstDash val="solid"/>
          </a:ln>
        </p:spPr>
      </p:sp>
      <p:sp>
        <p:nvSpPr>
          <p:cNvPr id="87" name="Shape 82"/>
          <p:cNvSpPr/>
          <p:nvPr/>
        </p:nvSpPr>
        <p:spPr>
          <a:xfrm>
            <a:off x="6099048" y="4818888"/>
            <a:ext cx="0" cy="192024"/>
          </a:xfrm>
          <a:prstGeom prst="line">
            <a:avLst/>
          </a:prstGeom>
          <a:noFill/>
          <a:ln w="8890">
            <a:solidFill>
              <a:srgbClr val="2E6F96"/>
            </a:solidFill>
            <a:prstDash val="solid"/>
            <a:tailEnd type="triangle"/>
          </a:ln>
        </p:spPr>
      </p:sp>
      <p:sp>
        <p:nvSpPr>
          <p:cNvPr id="88" name="Shape 83"/>
          <p:cNvSpPr/>
          <p:nvPr/>
        </p:nvSpPr>
        <p:spPr>
          <a:xfrm>
            <a:off x="9153144" y="4626864"/>
            <a:ext cx="0" cy="192024"/>
          </a:xfrm>
          <a:prstGeom prst="line">
            <a:avLst/>
          </a:prstGeom>
          <a:noFill/>
          <a:ln w="8890">
            <a:solidFill>
              <a:srgbClr val="2E6F96"/>
            </a:solidFill>
            <a:prstDash val="solid"/>
          </a:ln>
        </p:spPr>
      </p:sp>
      <p:sp>
        <p:nvSpPr>
          <p:cNvPr id="89" name="Shape 84"/>
          <p:cNvSpPr/>
          <p:nvPr/>
        </p:nvSpPr>
        <p:spPr>
          <a:xfrm>
            <a:off x="6099048" y="4818888"/>
            <a:ext cx="3054096" cy="0"/>
          </a:xfrm>
          <a:prstGeom prst="line">
            <a:avLst/>
          </a:prstGeom>
          <a:noFill/>
          <a:ln w="8890">
            <a:solidFill>
              <a:srgbClr val="2E6F96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6099048" y="4818888"/>
            <a:ext cx="0" cy="192024"/>
          </a:xfrm>
          <a:prstGeom prst="line">
            <a:avLst/>
          </a:prstGeom>
          <a:noFill/>
          <a:ln w="8890">
            <a:solidFill>
              <a:srgbClr val="2E6F96"/>
            </a:solidFill>
            <a:prstDash val="solid"/>
            <a:tailEnd type="triangle"/>
          </a:ln>
        </p:spPr>
      </p:sp>
      <p:sp>
        <p:nvSpPr>
          <p:cNvPr id="91" name="Shape 86"/>
          <p:cNvSpPr/>
          <p:nvPr/>
        </p:nvSpPr>
        <p:spPr>
          <a:xfrm>
            <a:off x="11109960" y="4626864"/>
            <a:ext cx="0" cy="192024"/>
          </a:xfrm>
          <a:prstGeom prst="line">
            <a:avLst/>
          </a:prstGeom>
          <a:noFill/>
          <a:ln w="8890">
            <a:solidFill>
              <a:srgbClr val="2E6F96"/>
            </a:solidFill>
            <a:prstDash val="solid"/>
          </a:ln>
        </p:spPr>
      </p:sp>
      <p:sp>
        <p:nvSpPr>
          <p:cNvPr id="92" name="Shape 87"/>
          <p:cNvSpPr/>
          <p:nvPr/>
        </p:nvSpPr>
        <p:spPr>
          <a:xfrm>
            <a:off x="6099048" y="4818888"/>
            <a:ext cx="5010912" cy="0"/>
          </a:xfrm>
          <a:prstGeom prst="line">
            <a:avLst/>
          </a:prstGeom>
          <a:noFill/>
          <a:ln w="8890">
            <a:solidFill>
              <a:srgbClr val="2E6F96"/>
            </a:solidFill>
            <a:prstDash val="solid"/>
          </a:ln>
        </p:spPr>
      </p:sp>
      <p:sp>
        <p:nvSpPr>
          <p:cNvPr id="93" name="Shape 88"/>
          <p:cNvSpPr/>
          <p:nvPr/>
        </p:nvSpPr>
        <p:spPr>
          <a:xfrm>
            <a:off x="6099048" y="4818888"/>
            <a:ext cx="0" cy="192024"/>
          </a:xfrm>
          <a:prstGeom prst="line">
            <a:avLst/>
          </a:prstGeom>
          <a:noFill/>
          <a:ln w="8890">
            <a:solidFill>
              <a:srgbClr val="2E6F96"/>
            </a:solidFill>
            <a:prstDash val="solid"/>
            <a:tailEnd type="triangle"/>
          </a:ln>
        </p:spPr>
      </p:sp>
      <p:sp>
        <p:nvSpPr>
          <p:cNvPr id="94" name="Shape 89"/>
          <p:cNvSpPr/>
          <p:nvPr/>
        </p:nvSpPr>
        <p:spPr>
          <a:xfrm>
            <a:off x="658368" y="6016752"/>
            <a:ext cx="10881360" cy="310896"/>
          </a:xfrm>
          <a:prstGeom prst="roundRect">
            <a:avLst>
              <a:gd name="adj" fmla="val 7353"/>
            </a:avLst>
          </a:prstGeom>
          <a:solidFill>
            <a:srgbClr val="FCFBF8"/>
          </a:solidFill>
          <a:ln w="10160">
            <a:solidFill>
              <a:srgbClr val="D9D5CD"/>
            </a:solidFill>
            <a:prstDash val="solid"/>
          </a:ln>
        </p:spPr>
      </p:sp>
      <p:sp>
        <p:nvSpPr>
          <p:cNvPr id="95" name="Shape 90"/>
          <p:cNvSpPr/>
          <p:nvPr/>
        </p:nvSpPr>
        <p:spPr>
          <a:xfrm>
            <a:off x="658368" y="6016752"/>
            <a:ext cx="64008" cy="310896"/>
          </a:xfrm>
          <a:prstGeom prst="rect">
            <a:avLst/>
          </a:prstGeom>
          <a:solidFill>
            <a:srgbClr val="2E6F96"/>
          </a:solidFill>
          <a:ln w="12700">
            <a:solidFill>
              <a:srgbClr val="2E6F96"/>
            </a:solidFill>
            <a:prstDash val="solid"/>
          </a:ln>
        </p:spPr>
      </p:sp>
      <p:sp>
        <p:nvSpPr>
          <p:cNvPr id="96" name="Text 91"/>
          <p:cNvSpPr txBox="1"/>
          <p:nvPr/>
        </p:nvSpPr>
        <p:spPr>
          <a:xfrm>
            <a:off x="841248" y="6044184"/>
            <a:ext cx="10561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Product boundary: Atlas Meridian investigates and supports decisions; it does not autonomously own acquisition, capital, or operating decisions.</a:t>
            </a:r>
            <a:endParaRPr lang="en-US" sz="860" dirty="0"/>
          </a:p>
        </p:txBody>
      </p:sp>
      <p:sp>
        <p:nvSpPr>
          <p:cNvPr id="97" name="Text 92"/>
          <p:cNvSpPr txBox="1"/>
          <p:nvPr/>
        </p:nvSpPr>
        <p:spPr>
          <a:xfrm>
            <a:off x="438912" y="6510528"/>
            <a:ext cx="4114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Canon date: August 31, 2026</a:t>
            </a:r>
            <a:endParaRPr lang="en-US" sz="760" dirty="0"/>
          </a:p>
        </p:txBody>
      </p:sp>
      <p:sp>
        <p:nvSpPr>
          <p:cNvPr id="98" name="Text 93"/>
          <p:cNvSpPr txBox="1"/>
          <p:nvPr/>
        </p:nvSpPr>
        <p:spPr>
          <a:xfrm>
            <a:off x="4572000" y="647395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Solid line = unit leadership or containment  •  Dashed line = cross-company interface  •  OPEN = unresolved by canon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77A7D"/>
                </a:solidFill>
                <a:latin typeface="Inter Display"/>
                <a:ea typeface="Inter Display"/>
                <a:cs typeface="Inter Display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1480" y="210312"/>
            <a:ext cx="347472" cy="34747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8288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spc="120" kern="0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SABLE HARBOR</a:t>
            </a:r>
            <a:endParaRPr lang="en-US" sz="135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40233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70" spc="110" kern="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ORGANIZATION BRIEFING</a:t>
            </a:r>
            <a:endParaRPr lang="en-US" sz="770" dirty="0"/>
          </a:p>
        </p:txBody>
      </p:sp>
      <p:sp>
        <p:nvSpPr>
          <p:cNvPr id="5" name="Shape 2"/>
          <p:cNvSpPr/>
          <p:nvPr/>
        </p:nvSpPr>
        <p:spPr>
          <a:xfrm>
            <a:off x="2468880" y="182880"/>
            <a:ext cx="0" cy="393192"/>
          </a:xfrm>
          <a:prstGeom prst="line">
            <a:avLst/>
          </a:prstGeom>
          <a:noFill/>
          <a:ln w="12700">
            <a:solidFill>
              <a:srgbClr val="D9D5CD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24912" y="173736"/>
            <a:ext cx="393192" cy="39319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218688" y="137160"/>
            <a:ext cx="8138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spc="60" kern="0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PALE SUN / RED WASH</a:t>
            </a:r>
            <a:endParaRPr lang="en-US" sz="2300" dirty="0"/>
          </a:p>
        </p:txBody>
      </p:sp>
      <p:sp>
        <p:nvSpPr>
          <p:cNvPr id="8" name="Text 4"/>
          <p:cNvSpPr txBox="1"/>
          <p:nvPr/>
        </p:nvSpPr>
        <p:spPr>
          <a:xfrm>
            <a:off x="3218688" y="448056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Operating organization, site authority, and qualified interfaces</a:t>
            </a:r>
            <a:endParaRPr lang="en-US" sz="940" dirty="0"/>
          </a:p>
        </p:txBody>
      </p:sp>
      <p:sp>
        <p:nvSpPr>
          <p:cNvPr id="9" name="Shape 5"/>
          <p:cNvSpPr/>
          <p:nvPr/>
        </p:nvSpPr>
        <p:spPr>
          <a:xfrm>
            <a:off x="3218688" y="658368"/>
            <a:ext cx="8156448" cy="0"/>
          </a:xfrm>
          <a:prstGeom prst="line">
            <a:avLst/>
          </a:prstGeom>
          <a:noFill/>
          <a:ln w="30480">
            <a:solidFill>
              <a:srgbClr val="C38B1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38912" y="841248"/>
            <a:ext cx="11320272" cy="749808"/>
          </a:xfrm>
          <a:prstGeom prst="roundRect">
            <a:avLst>
              <a:gd name="adj" fmla="val 6098"/>
            </a:avLst>
          </a:prstGeom>
          <a:solidFill>
            <a:srgbClr val="FCFBF8"/>
          </a:solidFill>
          <a:ln w="12700">
            <a:solidFill>
              <a:srgbClr val="D9D5CD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38912" y="841248"/>
            <a:ext cx="73152" cy="749808"/>
          </a:xfrm>
          <a:prstGeom prst="rect">
            <a:avLst/>
          </a:prstGeom>
          <a:solidFill>
            <a:srgbClr val="C38B1F"/>
          </a:solidFill>
          <a:ln w="12700">
            <a:solidFill>
              <a:srgbClr val="C38B1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94944" y="950976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b="1" spc="80" kern="0" dirty="0">
                <a:solidFill>
                  <a:srgbClr val="C38B1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HQ / OPERATING CENTER</a:t>
            </a:r>
            <a:endParaRPr lang="en-US" sz="710" dirty="0"/>
          </a:p>
        </p:txBody>
      </p:sp>
      <p:sp>
        <p:nvSpPr>
          <p:cNvPr id="13" name="Text 9"/>
          <p:cNvSpPr txBox="1"/>
          <p:nvPr/>
        </p:nvSpPr>
        <p:spPr>
          <a:xfrm>
            <a:off x="694944" y="1124712"/>
            <a:ext cx="2331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Red Wash Mine, Wyoming</a:t>
            </a:r>
            <a:endParaRPr lang="en-US" sz="103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Operating center; legal HQ OPEN</a:t>
            </a:r>
            <a:endParaRPr lang="en-US" sz="1030" dirty="0"/>
          </a:p>
        </p:txBody>
      </p:sp>
      <p:sp>
        <p:nvSpPr>
          <p:cNvPr id="14" name="Text 10"/>
          <p:cNvSpPr txBox="1"/>
          <p:nvPr/>
        </p:nvSpPr>
        <p:spPr>
          <a:xfrm>
            <a:off x="3118104" y="950976"/>
            <a:ext cx="5138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b="1" spc="80" kern="0" dirty="0">
                <a:solidFill>
                  <a:srgbClr val="C38B1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BUSINESS</a:t>
            </a:r>
            <a:endParaRPr lang="en-US" sz="710" dirty="0"/>
          </a:p>
        </p:txBody>
      </p:sp>
      <p:sp>
        <p:nvSpPr>
          <p:cNvPr id="15" name="Text 11"/>
          <p:cNvSpPr txBox="1"/>
          <p:nvPr/>
        </p:nvSpPr>
        <p:spPr>
          <a:xfrm>
            <a:off x="3118104" y="1124712"/>
            <a:ext cx="51389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Uranium operating business centered on ownership and operation of the Red Wash Mine.</a:t>
            </a:r>
            <a:endParaRPr lang="en-US" sz="1030" dirty="0"/>
          </a:p>
        </p:txBody>
      </p:sp>
      <p:sp>
        <p:nvSpPr>
          <p:cNvPr id="16" name="Text 12"/>
          <p:cNvSpPr txBox="1"/>
          <p:nvPr/>
        </p:nvSpPr>
        <p:spPr>
          <a:xfrm>
            <a:off x="8366760" y="950976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b="1" spc="80" kern="0" dirty="0">
                <a:solidFill>
                  <a:srgbClr val="C38B1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CURRENT LEAD</a:t>
            </a:r>
            <a:endParaRPr lang="en-US" sz="710" dirty="0"/>
          </a:p>
        </p:txBody>
      </p:sp>
      <p:sp>
        <p:nvSpPr>
          <p:cNvPr id="17" name="Text 13"/>
          <p:cNvSpPr txBox="1"/>
          <p:nvPr/>
        </p:nvSpPr>
        <p:spPr>
          <a:xfrm>
            <a:off x="8366760" y="1124712"/>
            <a:ext cx="1600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Marianne “Mari” Varela</a:t>
            </a:r>
            <a:endParaRPr lang="en-US" sz="1030" dirty="0"/>
          </a:p>
        </p:txBody>
      </p:sp>
      <p:sp>
        <p:nvSpPr>
          <p:cNvPr id="18" name="Text 14"/>
          <p:cNvSpPr txBox="1"/>
          <p:nvPr/>
        </p:nvSpPr>
        <p:spPr>
          <a:xfrm>
            <a:off x="10085832" y="950976"/>
            <a:ext cx="1426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b="1" spc="80" kern="0" dirty="0">
                <a:solidFill>
                  <a:srgbClr val="C38B1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STATUS</a:t>
            </a:r>
            <a:endParaRPr lang="en-US" sz="710" dirty="0"/>
          </a:p>
        </p:txBody>
      </p:sp>
      <p:sp>
        <p:nvSpPr>
          <p:cNvPr id="19" name="Text 15"/>
          <p:cNvSpPr txBox="1"/>
          <p:nvPr/>
        </p:nvSpPr>
        <p:spPr>
          <a:xfrm>
            <a:off x="10085832" y="1124712"/>
            <a:ext cx="14264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Active operating venture</a:t>
            </a:r>
            <a:endParaRPr lang="en-US" sz="1030" dirty="0"/>
          </a:p>
        </p:txBody>
      </p:sp>
      <p:sp>
        <p:nvSpPr>
          <p:cNvPr id="20" name="Shape 16"/>
          <p:cNvSpPr/>
          <p:nvPr/>
        </p:nvSpPr>
        <p:spPr>
          <a:xfrm>
            <a:off x="502920" y="1965960"/>
            <a:ext cx="2423160" cy="658368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10160">
            <a:solidFill>
              <a:srgbClr val="101214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02920" y="1965960"/>
            <a:ext cx="50292" cy="658368"/>
          </a:xfrm>
          <a:prstGeom prst="rect">
            <a:avLst/>
          </a:prstGeom>
          <a:solidFill>
            <a:srgbClr val="C45124"/>
          </a:solidFill>
          <a:ln w="12700">
            <a:solidFill>
              <a:srgbClr val="C45124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9224" y="2130552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161288" y="2066544"/>
            <a:ext cx="160020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SABLE HARBOR</a:t>
            </a:r>
            <a:endParaRPr lang="en-US" sz="1080" dirty="0"/>
          </a:p>
        </p:txBody>
      </p:sp>
      <p:sp>
        <p:nvSpPr>
          <p:cNvPr id="24" name="Text 19"/>
          <p:cNvSpPr txBox="1"/>
          <p:nvPr/>
        </p:nvSpPr>
        <p:spPr>
          <a:xfrm>
            <a:off x="1161288" y="2281977"/>
            <a:ext cx="1600200" cy="2896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Parent organization</a:t>
            </a:r>
            <a:endParaRPr lang="en-US" sz="870" dirty="0"/>
          </a:p>
        </p:txBody>
      </p:sp>
      <p:sp>
        <p:nvSpPr>
          <p:cNvPr id="25" name="Shape 20"/>
          <p:cNvSpPr/>
          <p:nvPr/>
        </p:nvSpPr>
        <p:spPr>
          <a:xfrm>
            <a:off x="502920" y="2788920"/>
            <a:ext cx="2423160" cy="658368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10160">
            <a:solidFill>
              <a:srgbClr val="101214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502920" y="2788920"/>
            <a:ext cx="50292" cy="658368"/>
          </a:xfrm>
          <a:prstGeom prst="rect">
            <a:avLst/>
          </a:prstGeom>
          <a:solidFill>
            <a:srgbClr val="315F4D"/>
          </a:solidFill>
          <a:ln w="12700">
            <a:solidFill>
              <a:srgbClr val="315F4D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685800" y="2889504"/>
            <a:ext cx="2075688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CALEB HARGROVE</a:t>
            </a:r>
            <a:endParaRPr lang="en-US" sz="1080" dirty="0"/>
          </a:p>
        </p:txBody>
      </p:sp>
      <p:sp>
        <p:nvSpPr>
          <p:cNvPr id="28" name="Text 23"/>
          <p:cNvSpPr txBox="1"/>
          <p:nvPr/>
        </p:nvSpPr>
        <p:spPr>
          <a:xfrm>
            <a:off x="685800" y="3104937"/>
            <a:ext cx="2075688" cy="2896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Qualification gate</a:t>
            </a:r>
            <a:endParaRPr lang="en-US" sz="870" dirty="0"/>
          </a:p>
        </p:txBody>
      </p:sp>
      <p:sp>
        <p:nvSpPr>
          <p:cNvPr id="29" name="Shape 24"/>
          <p:cNvSpPr/>
          <p:nvPr/>
        </p:nvSpPr>
        <p:spPr>
          <a:xfrm>
            <a:off x="502920" y="3611880"/>
            <a:ext cx="2423160" cy="658368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10160">
            <a:solidFill>
              <a:srgbClr val="101214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502920" y="3611880"/>
            <a:ext cx="50292" cy="658368"/>
          </a:xfrm>
          <a:prstGeom prst="rect">
            <a:avLst/>
          </a:prstGeom>
          <a:solidFill>
            <a:srgbClr val="C45124"/>
          </a:solidFill>
          <a:ln w="12700">
            <a:solidFill>
              <a:srgbClr val="C45124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9224" y="3776472"/>
            <a:ext cx="329184" cy="329184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1161288" y="3712464"/>
            <a:ext cx="160020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FOUNDRY</a:t>
            </a:r>
            <a:endParaRPr lang="en-US" sz="1080" dirty="0"/>
          </a:p>
        </p:txBody>
      </p:sp>
      <p:sp>
        <p:nvSpPr>
          <p:cNvPr id="33" name="Text 27"/>
          <p:cNvSpPr txBox="1"/>
          <p:nvPr/>
        </p:nvSpPr>
        <p:spPr>
          <a:xfrm>
            <a:off x="1161288" y="3927897"/>
            <a:ext cx="1600200" cy="2896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Representation</a:t>
            </a:r>
            <a:endParaRPr lang="en-US" sz="870" dirty="0"/>
          </a:p>
        </p:txBody>
      </p:sp>
      <p:sp>
        <p:nvSpPr>
          <p:cNvPr id="34" name="Shape 28"/>
          <p:cNvSpPr/>
          <p:nvPr/>
        </p:nvSpPr>
        <p:spPr>
          <a:xfrm>
            <a:off x="9262872" y="1965960"/>
            <a:ext cx="2423160" cy="658368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10160">
            <a:solidFill>
              <a:srgbClr val="101214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9262872" y="1965960"/>
            <a:ext cx="50292" cy="658368"/>
          </a:xfrm>
          <a:prstGeom prst="rect">
            <a:avLst/>
          </a:prstGeom>
          <a:solidFill>
            <a:srgbClr val="315F4D"/>
          </a:solidFill>
          <a:ln w="12700">
            <a:solidFill>
              <a:srgbClr val="315F4D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09176" y="2130552"/>
            <a:ext cx="329184" cy="329184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9921240" y="2066544"/>
            <a:ext cx="160020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WILLOW</a:t>
            </a:r>
            <a:endParaRPr lang="en-US" sz="1080" dirty="0"/>
          </a:p>
        </p:txBody>
      </p:sp>
      <p:sp>
        <p:nvSpPr>
          <p:cNvPr id="38" name="Text 31"/>
          <p:cNvSpPr txBox="1"/>
          <p:nvPr/>
        </p:nvSpPr>
        <p:spPr>
          <a:xfrm>
            <a:off x="9921240" y="2281977"/>
            <a:ext cx="1600200" cy="2896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Bounded experiment</a:t>
            </a:r>
            <a:endParaRPr lang="en-US" sz="870" dirty="0"/>
          </a:p>
        </p:txBody>
      </p:sp>
      <p:sp>
        <p:nvSpPr>
          <p:cNvPr id="39" name="Shape 32"/>
          <p:cNvSpPr/>
          <p:nvPr/>
        </p:nvSpPr>
        <p:spPr>
          <a:xfrm>
            <a:off x="9262872" y="2788920"/>
            <a:ext cx="2423160" cy="658368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10160">
            <a:solidFill>
              <a:srgbClr val="101214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9262872" y="2788920"/>
            <a:ext cx="50292" cy="658368"/>
          </a:xfrm>
          <a:prstGeom prst="rect">
            <a:avLst/>
          </a:prstGeom>
          <a:solidFill>
            <a:srgbClr val="2E6F96"/>
          </a:solidFill>
          <a:ln w="12700">
            <a:solidFill>
              <a:srgbClr val="2E6F96"/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409176" y="2953512"/>
            <a:ext cx="329184" cy="329184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9921240" y="2889504"/>
            <a:ext cx="160020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ATLAS MERIDIAN</a:t>
            </a:r>
            <a:endParaRPr lang="en-US" sz="1080" dirty="0"/>
          </a:p>
        </p:txBody>
      </p:sp>
      <p:sp>
        <p:nvSpPr>
          <p:cNvPr id="43" name="Text 35"/>
          <p:cNvSpPr txBox="1"/>
          <p:nvPr/>
        </p:nvSpPr>
        <p:spPr>
          <a:xfrm>
            <a:off x="9921240" y="3104937"/>
            <a:ext cx="1600200" cy="2896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Decision support</a:t>
            </a:r>
            <a:endParaRPr lang="en-US" sz="870" dirty="0"/>
          </a:p>
        </p:txBody>
      </p:sp>
      <p:sp>
        <p:nvSpPr>
          <p:cNvPr id="44" name="Shape 36"/>
          <p:cNvSpPr/>
          <p:nvPr/>
        </p:nvSpPr>
        <p:spPr>
          <a:xfrm>
            <a:off x="9262872" y="3611880"/>
            <a:ext cx="2423160" cy="658368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10160">
            <a:solidFill>
              <a:srgbClr val="101214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45" name="Shape 37"/>
          <p:cNvSpPr/>
          <p:nvPr/>
        </p:nvSpPr>
        <p:spPr>
          <a:xfrm>
            <a:off x="9262872" y="3611880"/>
            <a:ext cx="50292" cy="658368"/>
          </a:xfrm>
          <a:prstGeom prst="rect">
            <a:avLst/>
          </a:prstGeom>
          <a:solidFill>
            <a:srgbClr val="8B8E91"/>
          </a:solidFill>
          <a:ln w="12700">
            <a:solidFill>
              <a:srgbClr val="8B8E91"/>
            </a:solidFill>
            <a:prstDash val="solid"/>
          </a:ln>
        </p:spPr>
      </p:sp>
      <p:sp>
        <p:nvSpPr>
          <p:cNvPr id="46" name="Text 38"/>
          <p:cNvSpPr txBox="1"/>
          <p:nvPr/>
        </p:nvSpPr>
        <p:spPr>
          <a:xfrm>
            <a:off x="9445752" y="3712464"/>
            <a:ext cx="2075688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WALT SUTTER</a:t>
            </a:r>
            <a:endParaRPr lang="en-US" sz="1080" dirty="0"/>
          </a:p>
        </p:txBody>
      </p:sp>
      <p:sp>
        <p:nvSpPr>
          <p:cNvPr id="47" name="Text 39"/>
          <p:cNvSpPr txBox="1"/>
          <p:nvPr/>
        </p:nvSpPr>
        <p:spPr>
          <a:xfrm>
            <a:off x="9445752" y="3927897"/>
            <a:ext cx="2075688" cy="2896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Historical source</a:t>
            </a:r>
            <a:endParaRPr lang="en-US" sz="870" dirty="0"/>
          </a:p>
        </p:txBody>
      </p:sp>
      <p:sp>
        <p:nvSpPr>
          <p:cNvPr id="48" name="Shape 40"/>
          <p:cNvSpPr/>
          <p:nvPr/>
        </p:nvSpPr>
        <p:spPr>
          <a:xfrm>
            <a:off x="3959352" y="1956816"/>
            <a:ext cx="4261104" cy="713232"/>
          </a:xfrm>
          <a:prstGeom prst="roundRect">
            <a:avLst>
              <a:gd name="adj" fmla="val 4487"/>
            </a:avLst>
          </a:prstGeom>
          <a:solidFill>
            <a:srgbClr val="FFFFFF"/>
          </a:solidFill>
          <a:ln w="10160">
            <a:solidFill>
              <a:srgbClr val="101214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49" name="Shape 41"/>
          <p:cNvSpPr/>
          <p:nvPr/>
        </p:nvSpPr>
        <p:spPr>
          <a:xfrm>
            <a:off x="3959352" y="1956816"/>
            <a:ext cx="50292" cy="713232"/>
          </a:xfrm>
          <a:prstGeom prst="rect">
            <a:avLst/>
          </a:prstGeom>
          <a:solidFill>
            <a:srgbClr val="C38B1F"/>
          </a:solidFill>
          <a:ln w="12700">
            <a:solidFill>
              <a:srgbClr val="C38B1F"/>
            </a:solidFill>
            <a:prstDash val="solid"/>
          </a:ln>
        </p:spPr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105656" y="2121408"/>
            <a:ext cx="384048" cy="384048"/>
          </a:xfrm>
          <a:prstGeom prst="rect">
            <a:avLst/>
          </a:prstGeom>
        </p:spPr>
      </p:pic>
      <p:sp>
        <p:nvSpPr>
          <p:cNvPr id="51" name="Text 42"/>
          <p:cNvSpPr txBox="1"/>
          <p:nvPr/>
        </p:nvSpPr>
        <p:spPr>
          <a:xfrm>
            <a:off x="4617720" y="2057400"/>
            <a:ext cx="3438144" cy="2710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PALE SUN</a:t>
            </a:r>
            <a:endParaRPr lang="en-US" sz="1500" dirty="0"/>
          </a:p>
        </p:txBody>
      </p:sp>
      <p:sp>
        <p:nvSpPr>
          <p:cNvPr id="52" name="Text 43"/>
          <p:cNvSpPr txBox="1"/>
          <p:nvPr/>
        </p:nvSpPr>
        <p:spPr>
          <a:xfrm>
            <a:off x="4617720" y="2299167"/>
            <a:ext cx="3438144" cy="313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Uranium operating business</a:t>
            </a:r>
            <a:endParaRPr lang="en-US" sz="980" dirty="0"/>
          </a:p>
        </p:txBody>
      </p:sp>
      <p:sp>
        <p:nvSpPr>
          <p:cNvPr id="53" name="Shape 44"/>
          <p:cNvSpPr/>
          <p:nvPr/>
        </p:nvSpPr>
        <p:spPr>
          <a:xfrm>
            <a:off x="4233672" y="2971800"/>
            <a:ext cx="3712464" cy="676656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0160">
            <a:solidFill>
              <a:srgbClr val="101214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54" name="Shape 45"/>
          <p:cNvSpPr/>
          <p:nvPr/>
        </p:nvSpPr>
        <p:spPr>
          <a:xfrm>
            <a:off x="4233672" y="2971800"/>
            <a:ext cx="50292" cy="676656"/>
          </a:xfrm>
          <a:prstGeom prst="rect">
            <a:avLst/>
          </a:prstGeom>
          <a:solidFill>
            <a:srgbClr val="C38B1F"/>
          </a:solidFill>
          <a:ln w="12700">
            <a:solidFill>
              <a:srgbClr val="C38B1F"/>
            </a:solidFill>
            <a:prstDash val="solid"/>
          </a:ln>
        </p:spPr>
      </p:sp>
      <p:sp>
        <p:nvSpPr>
          <p:cNvPr id="55" name="Text 46"/>
          <p:cNvSpPr txBox="1"/>
          <p:nvPr/>
        </p:nvSpPr>
        <p:spPr>
          <a:xfrm>
            <a:off x="4416552" y="3072384"/>
            <a:ext cx="3364992" cy="25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1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MARIANNE “MARI” VARELA</a:t>
            </a:r>
            <a:endParaRPr lang="en-US" sz="1310" dirty="0"/>
          </a:p>
        </p:txBody>
      </p:sp>
      <p:sp>
        <p:nvSpPr>
          <p:cNvPr id="56" name="Text 47"/>
          <p:cNvSpPr txBox="1"/>
          <p:nvPr/>
        </p:nvSpPr>
        <p:spPr>
          <a:xfrm>
            <a:off x="4416552" y="3296595"/>
            <a:ext cx="3364992" cy="297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Operating lead</a:t>
            </a:r>
            <a:endParaRPr lang="en-US" sz="980" dirty="0"/>
          </a:p>
        </p:txBody>
      </p:sp>
      <p:sp>
        <p:nvSpPr>
          <p:cNvPr id="57" name="Shape 48"/>
          <p:cNvSpPr/>
          <p:nvPr/>
        </p:nvSpPr>
        <p:spPr>
          <a:xfrm>
            <a:off x="4233672" y="3995928"/>
            <a:ext cx="3712464" cy="676656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0160">
            <a:solidFill>
              <a:srgbClr val="101214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58" name="Shape 49"/>
          <p:cNvSpPr/>
          <p:nvPr/>
        </p:nvSpPr>
        <p:spPr>
          <a:xfrm>
            <a:off x="4233672" y="3995928"/>
            <a:ext cx="50292" cy="676656"/>
          </a:xfrm>
          <a:prstGeom prst="rect">
            <a:avLst/>
          </a:prstGeom>
          <a:solidFill>
            <a:srgbClr val="B94C2C"/>
          </a:solidFill>
          <a:ln w="12700">
            <a:solidFill>
              <a:srgbClr val="B94C2C"/>
            </a:solidFill>
            <a:prstDash val="solid"/>
          </a:ln>
        </p:spPr>
      </p:sp>
      <p:pic>
        <p:nvPicPr>
          <p:cNvPr id="5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379976" y="4160520"/>
            <a:ext cx="347472" cy="347472"/>
          </a:xfrm>
          <a:prstGeom prst="rect">
            <a:avLst/>
          </a:prstGeom>
        </p:spPr>
      </p:pic>
      <p:sp>
        <p:nvSpPr>
          <p:cNvPr id="60" name="Text 50"/>
          <p:cNvSpPr txBox="1"/>
          <p:nvPr/>
        </p:nvSpPr>
        <p:spPr>
          <a:xfrm>
            <a:off x="4892040" y="4096512"/>
            <a:ext cx="2889504" cy="25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RED WASH MINE</a:t>
            </a:r>
            <a:endParaRPr lang="en-US" sz="1320" dirty="0"/>
          </a:p>
        </p:txBody>
      </p:sp>
      <p:sp>
        <p:nvSpPr>
          <p:cNvPr id="61" name="Text 51"/>
          <p:cNvSpPr txBox="1"/>
          <p:nvPr/>
        </p:nvSpPr>
        <p:spPr>
          <a:xfrm>
            <a:off x="4892040" y="4320723"/>
            <a:ext cx="2889504" cy="297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Owned and operated mine</a:t>
            </a:r>
            <a:endParaRPr lang="en-US" sz="950" dirty="0"/>
          </a:p>
        </p:txBody>
      </p:sp>
      <p:sp>
        <p:nvSpPr>
          <p:cNvPr id="62" name="Shape 52"/>
          <p:cNvSpPr/>
          <p:nvPr/>
        </p:nvSpPr>
        <p:spPr>
          <a:xfrm>
            <a:off x="4462272" y="5020056"/>
            <a:ext cx="3255264" cy="676656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0160">
            <a:solidFill>
              <a:srgbClr val="101214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63" name="Shape 53"/>
          <p:cNvSpPr/>
          <p:nvPr/>
        </p:nvSpPr>
        <p:spPr>
          <a:xfrm>
            <a:off x="4462272" y="5020056"/>
            <a:ext cx="50292" cy="676656"/>
          </a:xfrm>
          <a:prstGeom prst="rect">
            <a:avLst/>
          </a:prstGeom>
          <a:solidFill>
            <a:srgbClr val="315F4D"/>
          </a:solidFill>
          <a:ln w="12700">
            <a:solidFill>
              <a:srgbClr val="315F4D"/>
            </a:solidFill>
            <a:prstDash val="solid"/>
          </a:ln>
        </p:spPr>
      </p:sp>
      <p:sp>
        <p:nvSpPr>
          <p:cNvPr id="64" name="Text 54"/>
          <p:cNvSpPr txBox="1"/>
          <p:nvPr/>
        </p:nvSpPr>
        <p:spPr>
          <a:xfrm>
            <a:off x="4645152" y="5120640"/>
            <a:ext cx="2907792" cy="25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4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COLE</a:t>
            </a:r>
            <a:endParaRPr lang="en-US" sz="1340" dirty="0"/>
          </a:p>
        </p:txBody>
      </p:sp>
      <p:sp>
        <p:nvSpPr>
          <p:cNvPr id="65" name="Text 55"/>
          <p:cNvSpPr txBox="1"/>
          <p:nvPr/>
        </p:nvSpPr>
        <p:spPr>
          <a:xfrm>
            <a:off x="4645152" y="5344851"/>
            <a:ext cx="2907792" cy="297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Site superintendent</a:t>
            </a:r>
            <a:endParaRPr lang="en-US" sz="950" dirty="0"/>
          </a:p>
        </p:txBody>
      </p:sp>
      <p:sp>
        <p:nvSpPr>
          <p:cNvPr id="66" name="Shape 56"/>
          <p:cNvSpPr/>
          <p:nvPr/>
        </p:nvSpPr>
        <p:spPr>
          <a:xfrm>
            <a:off x="6089904" y="2670048"/>
            <a:ext cx="0" cy="301752"/>
          </a:xfrm>
          <a:prstGeom prst="line">
            <a:avLst/>
          </a:prstGeom>
          <a:noFill/>
          <a:ln w="15240">
            <a:solidFill>
              <a:srgbClr val="101214"/>
            </a:solidFill>
            <a:prstDash val="solid"/>
            <a:tailEnd type="triangle"/>
          </a:ln>
        </p:spPr>
      </p:sp>
      <p:sp>
        <p:nvSpPr>
          <p:cNvPr id="67" name="Shape 57"/>
          <p:cNvSpPr/>
          <p:nvPr/>
        </p:nvSpPr>
        <p:spPr>
          <a:xfrm>
            <a:off x="6089904" y="3648456"/>
            <a:ext cx="0" cy="347472"/>
          </a:xfrm>
          <a:prstGeom prst="line">
            <a:avLst/>
          </a:prstGeom>
          <a:noFill/>
          <a:ln w="15240">
            <a:solidFill>
              <a:srgbClr val="101214"/>
            </a:solidFill>
            <a:prstDash val="solid"/>
            <a:tailEnd type="triangle"/>
          </a:ln>
        </p:spPr>
      </p:sp>
      <p:sp>
        <p:nvSpPr>
          <p:cNvPr id="68" name="Shape 58"/>
          <p:cNvSpPr/>
          <p:nvPr/>
        </p:nvSpPr>
        <p:spPr>
          <a:xfrm>
            <a:off x="6089904" y="4672584"/>
            <a:ext cx="0" cy="347472"/>
          </a:xfrm>
          <a:prstGeom prst="line">
            <a:avLst/>
          </a:prstGeom>
          <a:noFill/>
          <a:ln w="15240">
            <a:solidFill>
              <a:srgbClr val="101214"/>
            </a:solidFill>
            <a:prstDash val="solid"/>
            <a:tailEnd type="triangle"/>
          </a:ln>
        </p:spPr>
      </p:sp>
      <p:sp>
        <p:nvSpPr>
          <p:cNvPr id="69" name="Shape 59"/>
          <p:cNvSpPr/>
          <p:nvPr/>
        </p:nvSpPr>
        <p:spPr>
          <a:xfrm>
            <a:off x="2926080" y="2295144"/>
            <a:ext cx="516636" cy="0"/>
          </a:xfrm>
          <a:prstGeom prst="line">
            <a:avLst/>
          </a:prstGeom>
          <a:noFill/>
          <a:ln w="10160">
            <a:solidFill>
              <a:srgbClr val="C45124"/>
            </a:solidFill>
            <a:prstDash val="solid"/>
          </a:ln>
        </p:spPr>
      </p:sp>
      <p:sp>
        <p:nvSpPr>
          <p:cNvPr id="70" name="Shape 60"/>
          <p:cNvSpPr/>
          <p:nvPr/>
        </p:nvSpPr>
        <p:spPr>
          <a:xfrm>
            <a:off x="3442716" y="2295144"/>
            <a:ext cx="0" cy="18288"/>
          </a:xfrm>
          <a:prstGeom prst="line">
            <a:avLst/>
          </a:prstGeom>
          <a:noFill/>
          <a:ln w="10160">
            <a:solidFill>
              <a:srgbClr val="C45124"/>
            </a:solidFill>
            <a:prstDash val="solid"/>
          </a:ln>
        </p:spPr>
      </p:sp>
      <p:sp>
        <p:nvSpPr>
          <p:cNvPr id="71" name="Shape 61"/>
          <p:cNvSpPr/>
          <p:nvPr/>
        </p:nvSpPr>
        <p:spPr>
          <a:xfrm>
            <a:off x="3442716" y="2313432"/>
            <a:ext cx="516636" cy="0"/>
          </a:xfrm>
          <a:prstGeom prst="line">
            <a:avLst/>
          </a:prstGeom>
          <a:noFill/>
          <a:ln w="10160">
            <a:solidFill>
              <a:srgbClr val="C45124"/>
            </a:solidFill>
            <a:prstDash val="solid"/>
            <a:tailEnd type="triangle"/>
          </a:ln>
        </p:spPr>
      </p:sp>
      <p:sp>
        <p:nvSpPr>
          <p:cNvPr id="72" name="Shape 62"/>
          <p:cNvSpPr/>
          <p:nvPr/>
        </p:nvSpPr>
        <p:spPr>
          <a:xfrm>
            <a:off x="2926080" y="3118104"/>
            <a:ext cx="516636" cy="0"/>
          </a:xfrm>
          <a:prstGeom prst="line">
            <a:avLst/>
          </a:prstGeom>
          <a:noFill/>
          <a:ln w="10160">
            <a:solidFill>
              <a:srgbClr val="315F4D"/>
            </a:solidFill>
            <a:prstDash val="solid"/>
          </a:ln>
        </p:spPr>
      </p:sp>
      <p:sp>
        <p:nvSpPr>
          <p:cNvPr id="73" name="Shape 63"/>
          <p:cNvSpPr/>
          <p:nvPr/>
        </p:nvSpPr>
        <p:spPr>
          <a:xfrm>
            <a:off x="3442716" y="2313432"/>
            <a:ext cx="0" cy="804672"/>
          </a:xfrm>
          <a:prstGeom prst="line">
            <a:avLst/>
          </a:prstGeom>
          <a:noFill/>
          <a:ln w="10160">
            <a:solidFill>
              <a:srgbClr val="315F4D"/>
            </a:solidFill>
            <a:prstDash val="solid"/>
          </a:ln>
        </p:spPr>
      </p:sp>
      <p:sp>
        <p:nvSpPr>
          <p:cNvPr id="74" name="Shape 64"/>
          <p:cNvSpPr/>
          <p:nvPr/>
        </p:nvSpPr>
        <p:spPr>
          <a:xfrm>
            <a:off x="3442716" y="2313432"/>
            <a:ext cx="516636" cy="0"/>
          </a:xfrm>
          <a:prstGeom prst="line">
            <a:avLst/>
          </a:prstGeom>
          <a:noFill/>
          <a:ln w="10160">
            <a:solidFill>
              <a:srgbClr val="315F4D"/>
            </a:solidFill>
            <a:prstDash val="solid"/>
            <a:tailEnd type="triangle"/>
          </a:ln>
        </p:spPr>
      </p:sp>
      <p:sp>
        <p:nvSpPr>
          <p:cNvPr id="75" name="Shape 65"/>
          <p:cNvSpPr/>
          <p:nvPr/>
        </p:nvSpPr>
        <p:spPr>
          <a:xfrm>
            <a:off x="2926080" y="3941064"/>
            <a:ext cx="516636" cy="0"/>
          </a:xfrm>
          <a:prstGeom prst="line">
            <a:avLst/>
          </a:prstGeom>
          <a:noFill/>
          <a:ln w="10160">
            <a:solidFill>
              <a:srgbClr val="C45124"/>
            </a:solidFill>
            <a:prstDash val="solid"/>
          </a:ln>
        </p:spPr>
      </p:sp>
      <p:sp>
        <p:nvSpPr>
          <p:cNvPr id="76" name="Shape 66"/>
          <p:cNvSpPr/>
          <p:nvPr/>
        </p:nvSpPr>
        <p:spPr>
          <a:xfrm>
            <a:off x="3442716" y="2313432"/>
            <a:ext cx="0" cy="1627632"/>
          </a:xfrm>
          <a:prstGeom prst="line">
            <a:avLst/>
          </a:prstGeom>
          <a:noFill/>
          <a:ln w="10160">
            <a:solidFill>
              <a:srgbClr val="C45124"/>
            </a:solidFill>
            <a:prstDash val="solid"/>
          </a:ln>
        </p:spPr>
      </p:sp>
      <p:sp>
        <p:nvSpPr>
          <p:cNvPr id="77" name="Shape 67"/>
          <p:cNvSpPr/>
          <p:nvPr/>
        </p:nvSpPr>
        <p:spPr>
          <a:xfrm>
            <a:off x="3442716" y="2313432"/>
            <a:ext cx="516636" cy="0"/>
          </a:xfrm>
          <a:prstGeom prst="line">
            <a:avLst/>
          </a:prstGeom>
          <a:noFill/>
          <a:ln w="10160">
            <a:solidFill>
              <a:srgbClr val="C45124"/>
            </a:solidFill>
            <a:prstDash val="solid"/>
            <a:tailEnd type="triangle"/>
          </a:ln>
        </p:spPr>
      </p:sp>
      <p:sp>
        <p:nvSpPr>
          <p:cNvPr id="78" name="Shape 68"/>
          <p:cNvSpPr/>
          <p:nvPr/>
        </p:nvSpPr>
        <p:spPr>
          <a:xfrm>
            <a:off x="8220456" y="2313432"/>
            <a:ext cx="521208" cy="0"/>
          </a:xfrm>
          <a:prstGeom prst="line">
            <a:avLst/>
          </a:prstGeom>
          <a:noFill/>
          <a:ln w="10160">
            <a:solidFill>
              <a:srgbClr val="315F4D"/>
            </a:solidFill>
            <a:prstDash val="solid"/>
          </a:ln>
        </p:spPr>
      </p:sp>
      <p:sp>
        <p:nvSpPr>
          <p:cNvPr id="79" name="Shape 69"/>
          <p:cNvSpPr/>
          <p:nvPr/>
        </p:nvSpPr>
        <p:spPr>
          <a:xfrm>
            <a:off x="8741664" y="2295144"/>
            <a:ext cx="0" cy="18288"/>
          </a:xfrm>
          <a:prstGeom prst="line">
            <a:avLst/>
          </a:prstGeom>
          <a:noFill/>
          <a:ln w="10160">
            <a:solidFill>
              <a:srgbClr val="315F4D"/>
            </a:solidFill>
            <a:prstDash val="solid"/>
          </a:ln>
        </p:spPr>
      </p:sp>
      <p:sp>
        <p:nvSpPr>
          <p:cNvPr id="80" name="Shape 70"/>
          <p:cNvSpPr/>
          <p:nvPr/>
        </p:nvSpPr>
        <p:spPr>
          <a:xfrm>
            <a:off x="8741664" y="2295144"/>
            <a:ext cx="521208" cy="0"/>
          </a:xfrm>
          <a:prstGeom prst="line">
            <a:avLst/>
          </a:prstGeom>
          <a:noFill/>
          <a:ln w="10160">
            <a:solidFill>
              <a:srgbClr val="315F4D"/>
            </a:solidFill>
            <a:prstDash val="solid"/>
            <a:tailEnd type="triangle"/>
          </a:ln>
        </p:spPr>
      </p:sp>
      <p:sp>
        <p:nvSpPr>
          <p:cNvPr id="81" name="Shape 71"/>
          <p:cNvSpPr/>
          <p:nvPr/>
        </p:nvSpPr>
        <p:spPr>
          <a:xfrm>
            <a:off x="8220456" y="2313432"/>
            <a:ext cx="521208" cy="0"/>
          </a:xfrm>
          <a:prstGeom prst="line">
            <a:avLst/>
          </a:prstGeom>
          <a:noFill/>
          <a:ln w="10160">
            <a:solidFill>
              <a:srgbClr val="2E6F96"/>
            </a:solidFill>
            <a:prstDash val="solid"/>
          </a:ln>
        </p:spPr>
      </p:sp>
      <p:sp>
        <p:nvSpPr>
          <p:cNvPr id="82" name="Shape 72"/>
          <p:cNvSpPr/>
          <p:nvPr/>
        </p:nvSpPr>
        <p:spPr>
          <a:xfrm>
            <a:off x="8741664" y="2313432"/>
            <a:ext cx="0" cy="804672"/>
          </a:xfrm>
          <a:prstGeom prst="line">
            <a:avLst/>
          </a:prstGeom>
          <a:noFill/>
          <a:ln w="10160">
            <a:solidFill>
              <a:srgbClr val="2E6F96"/>
            </a:solidFill>
            <a:prstDash val="solid"/>
          </a:ln>
        </p:spPr>
      </p:sp>
      <p:sp>
        <p:nvSpPr>
          <p:cNvPr id="83" name="Shape 73"/>
          <p:cNvSpPr/>
          <p:nvPr/>
        </p:nvSpPr>
        <p:spPr>
          <a:xfrm>
            <a:off x="8741664" y="3118104"/>
            <a:ext cx="521208" cy="0"/>
          </a:xfrm>
          <a:prstGeom prst="line">
            <a:avLst/>
          </a:prstGeom>
          <a:noFill/>
          <a:ln w="10160">
            <a:solidFill>
              <a:srgbClr val="2E6F96"/>
            </a:solidFill>
            <a:prstDash val="solid"/>
            <a:tailEnd type="triangle"/>
          </a:ln>
        </p:spPr>
      </p:sp>
      <p:sp>
        <p:nvSpPr>
          <p:cNvPr id="84" name="Shape 74"/>
          <p:cNvSpPr/>
          <p:nvPr/>
        </p:nvSpPr>
        <p:spPr>
          <a:xfrm>
            <a:off x="8220456" y="2313432"/>
            <a:ext cx="521208" cy="0"/>
          </a:xfrm>
          <a:prstGeom prst="line">
            <a:avLst/>
          </a:prstGeom>
          <a:noFill/>
          <a:ln w="10160">
            <a:solidFill>
              <a:srgbClr val="8B8E91"/>
            </a:solidFill>
            <a:prstDash val="solid"/>
          </a:ln>
        </p:spPr>
      </p:sp>
      <p:sp>
        <p:nvSpPr>
          <p:cNvPr id="85" name="Shape 75"/>
          <p:cNvSpPr/>
          <p:nvPr/>
        </p:nvSpPr>
        <p:spPr>
          <a:xfrm>
            <a:off x="8741664" y="2313432"/>
            <a:ext cx="0" cy="1627632"/>
          </a:xfrm>
          <a:prstGeom prst="line">
            <a:avLst/>
          </a:prstGeom>
          <a:noFill/>
          <a:ln w="10160">
            <a:solidFill>
              <a:srgbClr val="8B8E91"/>
            </a:solidFill>
            <a:prstDash val="solid"/>
          </a:ln>
        </p:spPr>
      </p:sp>
      <p:sp>
        <p:nvSpPr>
          <p:cNvPr id="86" name="Shape 76"/>
          <p:cNvSpPr/>
          <p:nvPr/>
        </p:nvSpPr>
        <p:spPr>
          <a:xfrm>
            <a:off x="8741664" y="3941064"/>
            <a:ext cx="521208" cy="0"/>
          </a:xfrm>
          <a:prstGeom prst="line">
            <a:avLst/>
          </a:prstGeom>
          <a:noFill/>
          <a:ln w="10160">
            <a:solidFill>
              <a:srgbClr val="8B8E91"/>
            </a:solidFill>
            <a:prstDash val="solid"/>
            <a:tailEnd type="triangle"/>
          </a:ln>
        </p:spPr>
      </p:sp>
      <p:sp>
        <p:nvSpPr>
          <p:cNvPr id="87" name="Shape 77"/>
          <p:cNvSpPr/>
          <p:nvPr/>
        </p:nvSpPr>
        <p:spPr>
          <a:xfrm>
            <a:off x="658368" y="6016752"/>
            <a:ext cx="10881360" cy="310896"/>
          </a:xfrm>
          <a:prstGeom prst="roundRect">
            <a:avLst>
              <a:gd name="adj" fmla="val 7353"/>
            </a:avLst>
          </a:prstGeom>
          <a:solidFill>
            <a:srgbClr val="FCFBF8"/>
          </a:solidFill>
          <a:ln w="10160">
            <a:solidFill>
              <a:srgbClr val="D9D5CD"/>
            </a:solidFill>
            <a:prstDash val="solid"/>
          </a:ln>
        </p:spPr>
      </p:sp>
      <p:sp>
        <p:nvSpPr>
          <p:cNvPr id="88" name="Shape 78"/>
          <p:cNvSpPr/>
          <p:nvPr/>
        </p:nvSpPr>
        <p:spPr>
          <a:xfrm>
            <a:off x="658368" y="6016752"/>
            <a:ext cx="64008" cy="310896"/>
          </a:xfrm>
          <a:prstGeom prst="rect">
            <a:avLst/>
          </a:prstGeom>
          <a:solidFill>
            <a:srgbClr val="C38B1F"/>
          </a:solidFill>
          <a:ln w="12700">
            <a:solidFill>
              <a:srgbClr val="C38B1F"/>
            </a:solidFill>
            <a:prstDash val="solid"/>
          </a:ln>
        </p:spPr>
      </p:sp>
      <p:sp>
        <p:nvSpPr>
          <p:cNvPr id="89" name="Text 79"/>
          <p:cNvSpPr txBox="1"/>
          <p:nvPr/>
        </p:nvSpPr>
        <p:spPr>
          <a:xfrm>
            <a:off x="841248" y="6044184"/>
            <a:ext cx="10561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Operating rule: “Pale Sun first. Proving ground second.” Experiments and product work enter Red Wash only through qualification and operating ownership.</a:t>
            </a:r>
            <a:endParaRPr lang="en-US" sz="860" dirty="0"/>
          </a:p>
        </p:txBody>
      </p:sp>
      <p:sp>
        <p:nvSpPr>
          <p:cNvPr id="90" name="Text 80"/>
          <p:cNvSpPr txBox="1"/>
          <p:nvPr/>
        </p:nvSpPr>
        <p:spPr>
          <a:xfrm>
            <a:off x="438912" y="6510528"/>
            <a:ext cx="4114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Canon date: August 31, 2026</a:t>
            </a:r>
            <a:endParaRPr lang="en-US" sz="760" dirty="0"/>
          </a:p>
        </p:txBody>
      </p:sp>
      <p:sp>
        <p:nvSpPr>
          <p:cNvPr id="91" name="Text 81"/>
          <p:cNvSpPr txBox="1"/>
          <p:nvPr/>
        </p:nvSpPr>
        <p:spPr>
          <a:xfrm>
            <a:off x="4572000" y="647395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Solid line = unit leadership or containment  •  Dashed line = cross-company interface  •  OPEN = unresolved by canon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77A7D"/>
                </a:solidFill>
                <a:latin typeface="Inter Display"/>
                <a:ea typeface="Inter Display"/>
                <a:cs typeface="Inter Display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1480" y="210312"/>
            <a:ext cx="347472" cy="34747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8288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spc="120" kern="0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SABLE HARBOR</a:t>
            </a:r>
            <a:endParaRPr lang="en-US" sz="135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40233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70" spc="110" kern="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ORGANIZATION BRIEFING</a:t>
            </a:r>
            <a:endParaRPr lang="en-US" sz="770" dirty="0"/>
          </a:p>
        </p:txBody>
      </p:sp>
      <p:sp>
        <p:nvSpPr>
          <p:cNvPr id="5" name="Shape 2"/>
          <p:cNvSpPr/>
          <p:nvPr/>
        </p:nvSpPr>
        <p:spPr>
          <a:xfrm>
            <a:off x="2468880" y="182880"/>
            <a:ext cx="0" cy="393192"/>
          </a:xfrm>
          <a:prstGeom prst="line">
            <a:avLst/>
          </a:prstGeom>
          <a:noFill/>
          <a:ln w="12700">
            <a:solidFill>
              <a:srgbClr val="D9D5CD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24912" y="173736"/>
            <a:ext cx="393192" cy="39319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218688" y="137160"/>
            <a:ext cx="8138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spc="60" kern="0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PROJECT CRADLE</a:t>
            </a:r>
            <a:endParaRPr lang="en-US" sz="2300" dirty="0"/>
          </a:p>
        </p:txBody>
      </p:sp>
      <p:sp>
        <p:nvSpPr>
          <p:cNvPr id="8" name="Text 4"/>
          <p:cNvSpPr txBox="1"/>
          <p:nvPr/>
        </p:nvSpPr>
        <p:spPr>
          <a:xfrm>
            <a:off x="3218688" y="448056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Founding team and host-system recovery boundary</a:t>
            </a:r>
            <a:endParaRPr lang="en-US" sz="940" dirty="0"/>
          </a:p>
        </p:txBody>
      </p:sp>
      <p:sp>
        <p:nvSpPr>
          <p:cNvPr id="9" name="Shape 5"/>
          <p:cNvSpPr/>
          <p:nvPr/>
        </p:nvSpPr>
        <p:spPr>
          <a:xfrm>
            <a:off x="3218688" y="658368"/>
            <a:ext cx="8156448" cy="0"/>
          </a:xfrm>
          <a:prstGeom prst="line">
            <a:avLst/>
          </a:prstGeom>
          <a:noFill/>
          <a:ln w="30480">
            <a:solidFill>
              <a:srgbClr val="C58A14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38912" y="841248"/>
            <a:ext cx="11320272" cy="749808"/>
          </a:xfrm>
          <a:prstGeom prst="roundRect">
            <a:avLst>
              <a:gd name="adj" fmla="val 6098"/>
            </a:avLst>
          </a:prstGeom>
          <a:solidFill>
            <a:srgbClr val="FCFBF8"/>
          </a:solidFill>
          <a:ln w="12700">
            <a:solidFill>
              <a:srgbClr val="D9D5CD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38912" y="841248"/>
            <a:ext cx="73152" cy="749808"/>
          </a:xfrm>
          <a:prstGeom prst="rect">
            <a:avLst/>
          </a:prstGeom>
          <a:solidFill>
            <a:srgbClr val="C58A14"/>
          </a:solidFill>
          <a:ln w="12700">
            <a:solidFill>
              <a:srgbClr val="C58A14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94944" y="950976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b="1" spc="80" kern="0" dirty="0">
                <a:solidFill>
                  <a:srgbClr val="C58A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HQ / OPERATING CENTER</a:t>
            </a:r>
            <a:endParaRPr lang="en-US" sz="710" dirty="0"/>
          </a:p>
        </p:txBody>
      </p:sp>
      <p:sp>
        <p:nvSpPr>
          <p:cNvPr id="13" name="Text 9"/>
          <p:cNvSpPr txBox="1"/>
          <p:nvPr/>
        </p:nvSpPr>
        <p:spPr>
          <a:xfrm>
            <a:off x="694944" y="1124712"/>
            <a:ext cx="2331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OPEN</a:t>
            </a:r>
            <a:endParaRPr lang="en-US" sz="103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Host-site dependent</a:t>
            </a:r>
            <a:endParaRPr lang="en-US" sz="1030" dirty="0"/>
          </a:p>
        </p:txBody>
      </p:sp>
      <p:sp>
        <p:nvSpPr>
          <p:cNvPr id="14" name="Text 10"/>
          <p:cNvSpPr txBox="1"/>
          <p:nvPr/>
        </p:nvSpPr>
        <p:spPr>
          <a:xfrm>
            <a:off x="3118104" y="950976"/>
            <a:ext cx="5138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b="1" spc="80" kern="0" dirty="0">
                <a:solidFill>
                  <a:srgbClr val="C58A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BUSINESS</a:t>
            </a:r>
            <a:endParaRPr lang="en-US" sz="710" dirty="0"/>
          </a:p>
        </p:txBody>
      </p:sp>
      <p:sp>
        <p:nvSpPr>
          <p:cNvPr id="15" name="Text 11"/>
          <p:cNvSpPr txBox="1"/>
          <p:nvPr/>
        </p:nvSpPr>
        <p:spPr>
          <a:xfrm>
            <a:off x="3118104" y="1124712"/>
            <a:ext cx="51389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Rare-earth recovery venture capturing value from streams existing mines and plants already create.</a:t>
            </a:r>
            <a:endParaRPr lang="en-US" sz="1030" dirty="0"/>
          </a:p>
        </p:txBody>
      </p:sp>
      <p:sp>
        <p:nvSpPr>
          <p:cNvPr id="16" name="Text 12"/>
          <p:cNvSpPr txBox="1"/>
          <p:nvPr/>
        </p:nvSpPr>
        <p:spPr>
          <a:xfrm>
            <a:off x="8366760" y="950976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b="1" spc="80" kern="0" dirty="0">
                <a:solidFill>
                  <a:srgbClr val="C58A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CURRENT LEAD</a:t>
            </a:r>
            <a:endParaRPr lang="en-US" sz="710" dirty="0"/>
          </a:p>
        </p:txBody>
      </p:sp>
      <p:sp>
        <p:nvSpPr>
          <p:cNvPr id="17" name="Text 13"/>
          <p:cNvSpPr txBox="1"/>
          <p:nvPr/>
        </p:nvSpPr>
        <p:spPr>
          <a:xfrm>
            <a:off x="8366760" y="1124712"/>
            <a:ext cx="1600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Kenji Arakawa</a:t>
            </a:r>
            <a:endParaRPr lang="en-US" sz="1030" dirty="0"/>
          </a:p>
        </p:txBody>
      </p:sp>
      <p:sp>
        <p:nvSpPr>
          <p:cNvPr id="18" name="Text 14"/>
          <p:cNvSpPr txBox="1"/>
          <p:nvPr/>
        </p:nvSpPr>
        <p:spPr>
          <a:xfrm>
            <a:off x="10085832" y="950976"/>
            <a:ext cx="1426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b="1" spc="80" kern="0" dirty="0">
                <a:solidFill>
                  <a:srgbClr val="C58A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STATUS</a:t>
            </a:r>
            <a:endParaRPr lang="en-US" sz="710" dirty="0"/>
          </a:p>
        </p:txBody>
      </p:sp>
      <p:sp>
        <p:nvSpPr>
          <p:cNvPr id="19" name="Text 15"/>
          <p:cNvSpPr txBox="1"/>
          <p:nvPr/>
        </p:nvSpPr>
        <p:spPr>
          <a:xfrm>
            <a:off x="10085832" y="1124712"/>
            <a:ext cx="14264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Active venture</a:t>
            </a:r>
            <a:endParaRPr lang="en-US" sz="1030" dirty="0"/>
          </a:p>
        </p:txBody>
      </p:sp>
      <p:sp>
        <p:nvSpPr>
          <p:cNvPr id="20" name="Shape 16"/>
          <p:cNvSpPr/>
          <p:nvPr/>
        </p:nvSpPr>
        <p:spPr>
          <a:xfrm>
            <a:off x="2542032" y="1865376"/>
            <a:ext cx="4389120" cy="713232"/>
          </a:xfrm>
          <a:prstGeom prst="roundRect">
            <a:avLst>
              <a:gd name="adj" fmla="val 4487"/>
            </a:avLst>
          </a:prstGeom>
          <a:solidFill>
            <a:srgbClr val="FFFFFF"/>
          </a:solidFill>
          <a:ln w="10160">
            <a:solidFill>
              <a:srgbClr val="101214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2542032" y="1865376"/>
            <a:ext cx="50292" cy="713232"/>
          </a:xfrm>
          <a:prstGeom prst="rect">
            <a:avLst/>
          </a:prstGeom>
          <a:solidFill>
            <a:srgbClr val="C58A14"/>
          </a:solidFill>
          <a:ln w="12700">
            <a:solidFill>
              <a:srgbClr val="C58A14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88336" y="2029968"/>
            <a:ext cx="384048" cy="38404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3200400" y="1965960"/>
            <a:ext cx="3566160" cy="2710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PROJECT CRADLE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3200400" y="2207727"/>
            <a:ext cx="3566160" cy="313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Rare-earth recovery program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3072384" y="2816352"/>
            <a:ext cx="3328416" cy="694944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0160">
            <a:solidFill>
              <a:srgbClr val="101214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3072384" y="2816352"/>
            <a:ext cx="50292" cy="694944"/>
          </a:xfrm>
          <a:prstGeom prst="rect">
            <a:avLst/>
          </a:prstGeom>
          <a:solidFill>
            <a:srgbClr val="C58A14"/>
          </a:solidFill>
          <a:ln w="12700">
            <a:solidFill>
              <a:srgbClr val="C58A14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3255264" y="2916936"/>
            <a:ext cx="2980944" cy="2640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KENJI ARAKAWA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3255264" y="3149925"/>
            <a:ext cx="2980944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Program lead</a:t>
            </a:r>
            <a:endParaRPr lang="en-US" sz="980" dirty="0"/>
          </a:p>
        </p:txBody>
      </p:sp>
      <p:sp>
        <p:nvSpPr>
          <p:cNvPr id="29" name="Shape 24"/>
          <p:cNvSpPr/>
          <p:nvPr/>
        </p:nvSpPr>
        <p:spPr>
          <a:xfrm>
            <a:off x="4736592" y="2578608"/>
            <a:ext cx="0" cy="237744"/>
          </a:xfrm>
          <a:prstGeom prst="line">
            <a:avLst/>
          </a:prstGeom>
          <a:noFill/>
          <a:ln w="15240">
            <a:solidFill>
              <a:srgbClr val="101214"/>
            </a:solidFill>
            <a:prstDash val="solid"/>
            <a:tailEnd type="triangle"/>
          </a:ln>
        </p:spPr>
      </p:sp>
      <p:sp>
        <p:nvSpPr>
          <p:cNvPr id="30" name="Shape 25"/>
          <p:cNvSpPr/>
          <p:nvPr/>
        </p:nvSpPr>
        <p:spPr>
          <a:xfrm>
            <a:off x="576072" y="3977640"/>
            <a:ext cx="2212848" cy="73152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0160">
            <a:solidFill>
              <a:srgbClr val="101214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576072" y="3977640"/>
            <a:ext cx="50292" cy="731520"/>
          </a:xfrm>
          <a:prstGeom prst="rect">
            <a:avLst/>
          </a:prstGeom>
          <a:solidFill>
            <a:srgbClr val="C45124"/>
          </a:solidFill>
          <a:ln w="12700">
            <a:solidFill>
              <a:srgbClr val="C45124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758952" y="4078224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7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TESSA QUINN</a:t>
            </a:r>
            <a:endParaRPr lang="en-US" sz="1170" dirty="0"/>
          </a:p>
        </p:txBody>
      </p:sp>
      <p:sp>
        <p:nvSpPr>
          <p:cNvPr id="33" name="Text 28"/>
          <p:cNvSpPr txBox="1"/>
          <p:nvPr/>
        </p:nvSpPr>
        <p:spPr>
          <a:xfrm>
            <a:off x="758952" y="4328770"/>
            <a:ext cx="186537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1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Economic geology</a:t>
            </a:r>
            <a:endParaRPr lang="en-US" sz="910" dirty="0"/>
          </a:p>
        </p:txBody>
      </p:sp>
      <p:sp>
        <p:nvSpPr>
          <p:cNvPr id="34" name="Shape 29"/>
          <p:cNvSpPr/>
          <p:nvPr/>
        </p:nvSpPr>
        <p:spPr>
          <a:xfrm>
            <a:off x="4736592" y="3511296"/>
            <a:ext cx="0" cy="256032"/>
          </a:xfrm>
          <a:prstGeom prst="line">
            <a:avLst/>
          </a:prstGeom>
          <a:noFill/>
          <a:ln w="11430">
            <a:solidFill>
              <a:srgbClr val="101214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1682496" y="3767328"/>
            <a:ext cx="3054096" cy="0"/>
          </a:xfrm>
          <a:prstGeom prst="line">
            <a:avLst/>
          </a:prstGeom>
          <a:noFill/>
          <a:ln w="11430">
            <a:solidFill>
              <a:srgbClr val="101214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1682496" y="3767328"/>
            <a:ext cx="0" cy="210312"/>
          </a:xfrm>
          <a:prstGeom prst="line">
            <a:avLst/>
          </a:prstGeom>
          <a:noFill/>
          <a:ln w="11430">
            <a:solidFill>
              <a:srgbClr val="101214"/>
            </a:solidFill>
            <a:prstDash val="solid"/>
            <a:tailEnd type="triangle"/>
          </a:ln>
        </p:spPr>
      </p:sp>
      <p:sp>
        <p:nvSpPr>
          <p:cNvPr id="37" name="Shape 32"/>
          <p:cNvSpPr/>
          <p:nvPr/>
        </p:nvSpPr>
        <p:spPr>
          <a:xfrm>
            <a:off x="2971800" y="3977640"/>
            <a:ext cx="2212848" cy="73152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0160">
            <a:solidFill>
              <a:srgbClr val="101214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2971800" y="3977640"/>
            <a:ext cx="50292" cy="731520"/>
          </a:xfrm>
          <a:prstGeom prst="rect">
            <a:avLst/>
          </a:prstGeom>
          <a:solidFill>
            <a:srgbClr val="315F4D"/>
          </a:solidFill>
          <a:ln w="12700">
            <a:solidFill>
              <a:srgbClr val="315F4D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3154680" y="4078224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7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LUIS ORTEGA</a:t>
            </a:r>
            <a:endParaRPr lang="en-US" sz="1170" dirty="0"/>
          </a:p>
        </p:txBody>
      </p:sp>
      <p:sp>
        <p:nvSpPr>
          <p:cNvPr id="40" name="Text 35"/>
          <p:cNvSpPr txBox="1"/>
          <p:nvPr/>
        </p:nvSpPr>
        <p:spPr>
          <a:xfrm>
            <a:off x="3154680" y="4328770"/>
            <a:ext cx="186537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1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Process engineering</a:t>
            </a:r>
            <a:endParaRPr lang="en-US" sz="910" dirty="0"/>
          </a:p>
        </p:txBody>
      </p:sp>
      <p:sp>
        <p:nvSpPr>
          <p:cNvPr id="41" name="Shape 36"/>
          <p:cNvSpPr/>
          <p:nvPr/>
        </p:nvSpPr>
        <p:spPr>
          <a:xfrm>
            <a:off x="4736592" y="3511296"/>
            <a:ext cx="0" cy="256032"/>
          </a:xfrm>
          <a:prstGeom prst="line">
            <a:avLst/>
          </a:prstGeom>
          <a:noFill/>
          <a:ln w="11430">
            <a:solidFill>
              <a:srgbClr val="101214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4078224" y="3767328"/>
            <a:ext cx="658368" cy="0"/>
          </a:xfrm>
          <a:prstGeom prst="line">
            <a:avLst/>
          </a:prstGeom>
          <a:noFill/>
          <a:ln w="11430">
            <a:solidFill>
              <a:srgbClr val="101214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4078224" y="3767328"/>
            <a:ext cx="0" cy="210312"/>
          </a:xfrm>
          <a:prstGeom prst="line">
            <a:avLst/>
          </a:prstGeom>
          <a:noFill/>
          <a:ln w="11430">
            <a:solidFill>
              <a:srgbClr val="101214"/>
            </a:solidFill>
            <a:prstDash val="solid"/>
            <a:tailEnd type="triangle"/>
          </a:ln>
        </p:spPr>
      </p:sp>
      <p:sp>
        <p:nvSpPr>
          <p:cNvPr id="44" name="Shape 39"/>
          <p:cNvSpPr/>
          <p:nvPr/>
        </p:nvSpPr>
        <p:spPr>
          <a:xfrm>
            <a:off x="5367528" y="3977640"/>
            <a:ext cx="2212848" cy="73152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0160">
            <a:solidFill>
              <a:srgbClr val="101214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45" name="Shape 40"/>
          <p:cNvSpPr/>
          <p:nvPr/>
        </p:nvSpPr>
        <p:spPr>
          <a:xfrm>
            <a:off x="5367528" y="3977640"/>
            <a:ext cx="50292" cy="731520"/>
          </a:xfrm>
          <a:prstGeom prst="rect">
            <a:avLst/>
          </a:prstGeom>
          <a:solidFill>
            <a:srgbClr val="2E6F96"/>
          </a:solidFill>
          <a:ln w="12700">
            <a:solidFill>
              <a:srgbClr val="2E6F96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5550408" y="4078224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7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MAEVE DONNELLY</a:t>
            </a:r>
            <a:endParaRPr lang="en-US" sz="1170" dirty="0"/>
          </a:p>
        </p:txBody>
      </p:sp>
      <p:sp>
        <p:nvSpPr>
          <p:cNvPr id="47" name="Text 42"/>
          <p:cNvSpPr txBox="1"/>
          <p:nvPr/>
        </p:nvSpPr>
        <p:spPr>
          <a:xfrm>
            <a:off x="5550408" y="4328770"/>
            <a:ext cx="186537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1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Data engineering</a:t>
            </a:r>
            <a:endParaRPr lang="en-US" sz="910" dirty="0"/>
          </a:p>
        </p:txBody>
      </p:sp>
      <p:sp>
        <p:nvSpPr>
          <p:cNvPr id="48" name="Shape 43"/>
          <p:cNvSpPr/>
          <p:nvPr/>
        </p:nvSpPr>
        <p:spPr>
          <a:xfrm>
            <a:off x="4736592" y="3511296"/>
            <a:ext cx="0" cy="256032"/>
          </a:xfrm>
          <a:prstGeom prst="line">
            <a:avLst/>
          </a:prstGeom>
          <a:noFill/>
          <a:ln w="11430">
            <a:solidFill>
              <a:srgbClr val="101214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4736592" y="3767328"/>
            <a:ext cx="1737360" cy="0"/>
          </a:xfrm>
          <a:prstGeom prst="line">
            <a:avLst/>
          </a:prstGeom>
          <a:noFill/>
          <a:ln w="11430">
            <a:solidFill>
              <a:srgbClr val="101214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6473952" y="3767328"/>
            <a:ext cx="0" cy="210312"/>
          </a:xfrm>
          <a:prstGeom prst="line">
            <a:avLst/>
          </a:prstGeom>
          <a:noFill/>
          <a:ln w="11430">
            <a:solidFill>
              <a:srgbClr val="101214"/>
            </a:solidFill>
            <a:prstDash val="solid"/>
            <a:tailEnd type="triangle"/>
          </a:ln>
        </p:spPr>
      </p:sp>
      <p:sp>
        <p:nvSpPr>
          <p:cNvPr id="51" name="Shape 46"/>
          <p:cNvSpPr/>
          <p:nvPr/>
        </p:nvSpPr>
        <p:spPr>
          <a:xfrm>
            <a:off x="8887968" y="2249424"/>
            <a:ext cx="2615184" cy="676656"/>
          </a:xfrm>
          <a:prstGeom prst="roundRect">
            <a:avLst>
              <a:gd name="adj" fmla="val 4730"/>
            </a:avLst>
          </a:prstGeom>
          <a:solidFill>
            <a:srgbClr val="F0EFEC"/>
          </a:solidFill>
          <a:ln w="15240">
            <a:solidFill>
              <a:srgbClr val="8B8E91"/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8887968" y="2249424"/>
            <a:ext cx="50292" cy="676656"/>
          </a:xfrm>
          <a:prstGeom prst="rect">
            <a:avLst/>
          </a:prstGeom>
          <a:solidFill>
            <a:srgbClr val="8B8E91"/>
          </a:solidFill>
          <a:ln w="12700">
            <a:solidFill>
              <a:srgbClr val="8B8E91"/>
            </a:solidFill>
            <a:prstDash val="solid"/>
          </a:ln>
        </p:spPr>
      </p:sp>
      <p:sp>
        <p:nvSpPr>
          <p:cNvPr id="53" name="Text 48"/>
          <p:cNvSpPr txBox="1"/>
          <p:nvPr/>
        </p:nvSpPr>
        <p:spPr>
          <a:xfrm>
            <a:off x="9070848" y="2350008"/>
            <a:ext cx="2267712" cy="25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20" b="1" dirty="0">
                <a:solidFill>
                  <a:srgbClr val="8B8E9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HOST OPERATOR</a:t>
            </a:r>
            <a:endParaRPr lang="en-US" sz="1120" dirty="0"/>
          </a:p>
        </p:txBody>
      </p:sp>
      <p:sp>
        <p:nvSpPr>
          <p:cNvPr id="54" name="Text 49"/>
          <p:cNvSpPr txBox="1"/>
          <p:nvPr/>
        </p:nvSpPr>
        <p:spPr>
          <a:xfrm>
            <a:off x="9070848" y="2574219"/>
            <a:ext cx="2267712" cy="297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Separate operator</a:t>
            </a:r>
            <a:endParaRPr lang="en-US" sz="880" dirty="0"/>
          </a:p>
        </p:txBody>
      </p:sp>
      <p:sp>
        <p:nvSpPr>
          <p:cNvPr id="55" name="Shape 50"/>
          <p:cNvSpPr/>
          <p:nvPr/>
        </p:nvSpPr>
        <p:spPr>
          <a:xfrm>
            <a:off x="8549640" y="3813048"/>
            <a:ext cx="2953512" cy="749808"/>
          </a:xfrm>
          <a:prstGeom prst="roundRect">
            <a:avLst>
              <a:gd name="adj" fmla="val 4268"/>
            </a:avLst>
          </a:prstGeom>
          <a:solidFill>
            <a:srgbClr val="FFFFFF"/>
          </a:solidFill>
          <a:ln w="10160">
            <a:solidFill>
              <a:srgbClr val="101214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56" name="Shape 51"/>
          <p:cNvSpPr/>
          <p:nvPr/>
        </p:nvSpPr>
        <p:spPr>
          <a:xfrm>
            <a:off x="8549640" y="3813048"/>
            <a:ext cx="50292" cy="749808"/>
          </a:xfrm>
          <a:prstGeom prst="rect">
            <a:avLst/>
          </a:prstGeom>
          <a:solidFill>
            <a:srgbClr val="C58A14"/>
          </a:solidFill>
          <a:ln w="12700">
            <a:solidFill>
              <a:srgbClr val="C58A14"/>
            </a:solidFill>
            <a:prstDash val="solid"/>
          </a:ln>
        </p:spPr>
      </p:sp>
      <p:sp>
        <p:nvSpPr>
          <p:cNvPr id="57" name="Text 52"/>
          <p:cNvSpPr txBox="1"/>
          <p:nvPr/>
        </p:nvSpPr>
        <p:spPr>
          <a:xfrm>
            <a:off x="8732520" y="39136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7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BOLT-ON RECOVERY STEP</a:t>
            </a:r>
            <a:endParaRPr lang="en-US" sz="1070" dirty="0"/>
          </a:p>
        </p:txBody>
      </p:sp>
      <p:sp>
        <p:nvSpPr>
          <p:cNvPr id="58" name="Text 53"/>
          <p:cNvSpPr txBox="1"/>
          <p:nvPr/>
        </p:nvSpPr>
        <p:spPr>
          <a:xfrm>
            <a:off x="8732520" y="4172956"/>
            <a:ext cx="2606040" cy="329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Cradle-controlled intervention</a:t>
            </a:r>
            <a:endParaRPr lang="en-US" sz="860" dirty="0"/>
          </a:p>
        </p:txBody>
      </p:sp>
      <p:sp>
        <p:nvSpPr>
          <p:cNvPr id="59" name="Shape 54"/>
          <p:cNvSpPr/>
          <p:nvPr/>
        </p:nvSpPr>
        <p:spPr>
          <a:xfrm>
            <a:off x="10195560" y="2926080"/>
            <a:ext cx="0" cy="457200"/>
          </a:xfrm>
          <a:prstGeom prst="line">
            <a:avLst/>
          </a:prstGeom>
          <a:noFill/>
          <a:ln w="11430">
            <a:solidFill>
              <a:srgbClr val="8B8E91"/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10026396" y="3383280"/>
            <a:ext cx="169164" cy="0"/>
          </a:xfrm>
          <a:prstGeom prst="line">
            <a:avLst/>
          </a:prstGeom>
          <a:noFill/>
          <a:ln w="11430">
            <a:solidFill>
              <a:srgbClr val="8B8E91"/>
            </a:solidFill>
            <a:prstDash val="solid"/>
          </a:ln>
        </p:spPr>
      </p:sp>
      <p:sp>
        <p:nvSpPr>
          <p:cNvPr id="61" name="Shape 56"/>
          <p:cNvSpPr/>
          <p:nvPr/>
        </p:nvSpPr>
        <p:spPr>
          <a:xfrm>
            <a:off x="10026396" y="3383280"/>
            <a:ext cx="0" cy="429768"/>
          </a:xfrm>
          <a:prstGeom prst="line">
            <a:avLst/>
          </a:prstGeom>
          <a:noFill/>
          <a:ln w="11430">
            <a:solidFill>
              <a:srgbClr val="8B8E91"/>
            </a:solidFill>
            <a:prstDash val="solid"/>
            <a:tailEnd type="triangle"/>
          </a:ln>
        </p:spPr>
      </p:sp>
      <p:sp>
        <p:nvSpPr>
          <p:cNvPr id="62" name="Shape 57"/>
          <p:cNvSpPr/>
          <p:nvPr/>
        </p:nvSpPr>
        <p:spPr>
          <a:xfrm>
            <a:off x="6931152" y="2221992"/>
            <a:ext cx="1097280" cy="0"/>
          </a:xfrm>
          <a:prstGeom prst="line">
            <a:avLst/>
          </a:prstGeom>
          <a:noFill/>
          <a:ln w="11430">
            <a:solidFill>
              <a:srgbClr val="C58A14"/>
            </a:solidFill>
            <a:prstDash val="solid"/>
          </a:ln>
        </p:spPr>
      </p:sp>
      <p:sp>
        <p:nvSpPr>
          <p:cNvPr id="63" name="Shape 58"/>
          <p:cNvSpPr/>
          <p:nvPr/>
        </p:nvSpPr>
        <p:spPr>
          <a:xfrm>
            <a:off x="8028432" y="2221992"/>
            <a:ext cx="0" cy="1947672"/>
          </a:xfrm>
          <a:prstGeom prst="line">
            <a:avLst/>
          </a:prstGeom>
          <a:noFill/>
          <a:ln w="11430">
            <a:solidFill>
              <a:srgbClr val="C58A14"/>
            </a:solidFill>
            <a:prstDash val="solid"/>
          </a:ln>
        </p:spPr>
      </p:sp>
      <p:sp>
        <p:nvSpPr>
          <p:cNvPr id="64" name="Shape 59"/>
          <p:cNvSpPr/>
          <p:nvPr/>
        </p:nvSpPr>
        <p:spPr>
          <a:xfrm>
            <a:off x="8028432" y="4187952"/>
            <a:ext cx="521208" cy="0"/>
          </a:xfrm>
          <a:prstGeom prst="line">
            <a:avLst/>
          </a:prstGeom>
          <a:noFill/>
          <a:ln w="11430">
            <a:solidFill>
              <a:srgbClr val="C58A14"/>
            </a:solidFill>
            <a:prstDash val="solid"/>
            <a:tailEnd type="triangle"/>
          </a:ln>
        </p:spPr>
      </p:sp>
      <p:sp>
        <p:nvSpPr>
          <p:cNvPr id="65" name="Shape 60"/>
          <p:cNvSpPr/>
          <p:nvPr/>
        </p:nvSpPr>
        <p:spPr>
          <a:xfrm>
            <a:off x="658368" y="6016752"/>
            <a:ext cx="10881360" cy="310896"/>
          </a:xfrm>
          <a:prstGeom prst="roundRect">
            <a:avLst>
              <a:gd name="adj" fmla="val 7353"/>
            </a:avLst>
          </a:prstGeom>
          <a:solidFill>
            <a:srgbClr val="FCFBF8"/>
          </a:solidFill>
          <a:ln w="10160">
            <a:solidFill>
              <a:srgbClr val="D9D5CD"/>
            </a:solidFill>
            <a:prstDash val="solid"/>
          </a:ln>
        </p:spPr>
      </p:sp>
      <p:sp>
        <p:nvSpPr>
          <p:cNvPr id="66" name="Shape 61"/>
          <p:cNvSpPr/>
          <p:nvPr/>
        </p:nvSpPr>
        <p:spPr>
          <a:xfrm>
            <a:off x="658368" y="6016752"/>
            <a:ext cx="64008" cy="310896"/>
          </a:xfrm>
          <a:prstGeom prst="rect">
            <a:avLst/>
          </a:prstGeom>
          <a:solidFill>
            <a:srgbClr val="C58A14"/>
          </a:solidFill>
          <a:ln w="12700">
            <a:solidFill>
              <a:srgbClr val="C58A14"/>
            </a:solidFill>
            <a:prstDash val="solid"/>
          </a:ln>
        </p:spPr>
      </p:sp>
      <p:sp>
        <p:nvSpPr>
          <p:cNvPr id="67" name="Text 62"/>
          <p:cNvSpPr txBox="1"/>
          <p:nvPr/>
        </p:nvSpPr>
        <p:spPr>
          <a:xfrm>
            <a:off x="841248" y="6044184"/>
            <a:ext cx="10561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Business boundary: Cradle generally avoids owning the host mine. The objective is the smallest recovery intervention that creates value without breaking the host system.</a:t>
            </a:r>
            <a:endParaRPr lang="en-US" sz="860" dirty="0"/>
          </a:p>
        </p:txBody>
      </p:sp>
      <p:sp>
        <p:nvSpPr>
          <p:cNvPr id="68" name="Text 63"/>
          <p:cNvSpPr txBox="1"/>
          <p:nvPr/>
        </p:nvSpPr>
        <p:spPr>
          <a:xfrm>
            <a:off x="438912" y="6510528"/>
            <a:ext cx="4114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Canon date: August 31, 2026</a:t>
            </a:r>
            <a:endParaRPr lang="en-US" sz="760" dirty="0"/>
          </a:p>
        </p:txBody>
      </p:sp>
      <p:sp>
        <p:nvSpPr>
          <p:cNvPr id="69" name="Text 64"/>
          <p:cNvSpPr txBox="1"/>
          <p:nvPr/>
        </p:nvSpPr>
        <p:spPr>
          <a:xfrm>
            <a:off x="4572000" y="647395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Solid line = unit leadership or containment  •  Dashed line = cross-company interface  •  OPEN = unresolved by canon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77A7D"/>
                </a:solidFill>
                <a:latin typeface="Inter Display"/>
                <a:ea typeface="Inter Display"/>
                <a:cs typeface="Inter Display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1480" y="210312"/>
            <a:ext cx="347472" cy="34747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8288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spc="120" kern="0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SABLE HARBOR</a:t>
            </a:r>
            <a:endParaRPr lang="en-US" sz="135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40233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70" spc="110" kern="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ORGANIZATION BRIEFING</a:t>
            </a:r>
            <a:endParaRPr lang="en-US" sz="770" dirty="0"/>
          </a:p>
        </p:txBody>
      </p:sp>
      <p:sp>
        <p:nvSpPr>
          <p:cNvPr id="5" name="Shape 2"/>
          <p:cNvSpPr/>
          <p:nvPr/>
        </p:nvSpPr>
        <p:spPr>
          <a:xfrm>
            <a:off x="2468880" y="182880"/>
            <a:ext cx="0" cy="393192"/>
          </a:xfrm>
          <a:prstGeom prst="line">
            <a:avLst/>
          </a:prstGeom>
          <a:noFill/>
          <a:ln w="12700">
            <a:solidFill>
              <a:srgbClr val="D9D5CD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24912" y="173736"/>
            <a:ext cx="393192" cy="39319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218688" y="137160"/>
            <a:ext cx="8138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spc="60" kern="0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AMERICAN RESOURCE UTILITY / BS&amp;T</a:t>
            </a:r>
            <a:endParaRPr lang="en-US" sz="2300" dirty="0"/>
          </a:p>
        </p:txBody>
      </p:sp>
      <p:sp>
        <p:nvSpPr>
          <p:cNvPr id="8" name="Text 4"/>
          <p:cNvSpPr txBox="1"/>
          <p:nvPr/>
        </p:nvSpPr>
        <p:spPr>
          <a:xfrm>
            <a:off x="3218688" y="448056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Acquired operating company, railway component, and integration interfaces</a:t>
            </a:r>
            <a:endParaRPr lang="en-US" sz="940" dirty="0"/>
          </a:p>
        </p:txBody>
      </p:sp>
      <p:sp>
        <p:nvSpPr>
          <p:cNvPr id="9" name="Shape 5"/>
          <p:cNvSpPr/>
          <p:nvPr/>
        </p:nvSpPr>
        <p:spPr>
          <a:xfrm>
            <a:off x="3218688" y="658368"/>
            <a:ext cx="8156448" cy="0"/>
          </a:xfrm>
          <a:prstGeom prst="line">
            <a:avLst/>
          </a:prstGeom>
          <a:noFill/>
          <a:ln w="30480">
            <a:solidFill>
              <a:srgbClr val="C45124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38912" y="841248"/>
            <a:ext cx="11320272" cy="749808"/>
          </a:xfrm>
          <a:prstGeom prst="roundRect">
            <a:avLst>
              <a:gd name="adj" fmla="val 6098"/>
            </a:avLst>
          </a:prstGeom>
          <a:solidFill>
            <a:srgbClr val="FCFBF8"/>
          </a:solidFill>
          <a:ln w="12700">
            <a:solidFill>
              <a:srgbClr val="D9D5CD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38912" y="841248"/>
            <a:ext cx="73152" cy="749808"/>
          </a:xfrm>
          <a:prstGeom prst="rect">
            <a:avLst/>
          </a:prstGeom>
          <a:solidFill>
            <a:srgbClr val="C45124"/>
          </a:solidFill>
          <a:ln w="12700">
            <a:solidFill>
              <a:srgbClr val="C45124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94944" y="950976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b="1" spc="80" kern="0" dirty="0">
                <a:solidFill>
                  <a:srgbClr val="C451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HQ / OPERATING CENTER</a:t>
            </a:r>
            <a:endParaRPr lang="en-US" sz="710" dirty="0"/>
          </a:p>
        </p:txBody>
      </p:sp>
      <p:sp>
        <p:nvSpPr>
          <p:cNvPr id="13" name="Text 9"/>
          <p:cNvSpPr txBox="1"/>
          <p:nvPr/>
        </p:nvSpPr>
        <p:spPr>
          <a:xfrm>
            <a:off x="694944" y="1124712"/>
            <a:ext cx="2331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OPEN</a:t>
            </a:r>
            <a:endParaRPr lang="en-US" sz="103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Legacy logistics network</a:t>
            </a:r>
            <a:endParaRPr lang="en-US" sz="1030" dirty="0"/>
          </a:p>
        </p:txBody>
      </p:sp>
      <p:sp>
        <p:nvSpPr>
          <p:cNvPr id="14" name="Text 10"/>
          <p:cNvSpPr txBox="1"/>
          <p:nvPr/>
        </p:nvSpPr>
        <p:spPr>
          <a:xfrm>
            <a:off x="3118104" y="950976"/>
            <a:ext cx="5138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b="1" spc="80" kern="0" dirty="0">
                <a:solidFill>
                  <a:srgbClr val="C451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BUSINESS</a:t>
            </a:r>
            <a:endParaRPr lang="en-US" sz="710" dirty="0"/>
          </a:p>
        </p:txBody>
      </p:sp>
      <p:sp>
        <p:nvSpPr>
          <p:cNvPr id="15" name="Text 11"/>
          <p:cNvSpPr txBox="1"/>
          <p:nvPr/>
        </p:nvSpPr>
        <p:spPr>
          <a:xfrm>
            <a:off x="3118104" y="1124712"/>
            <a:ext cx="51389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Acquired resource-logistics operator with legacy customers, dispatch practices, terminals, equipment, and operating knowledge.</a:t>
            </a:r>
            <a:endParaRPr lang="en-US" sz="1030" dirty="0"/>
          </a:p>
        </p:txBody>
      </p:sp>
      <p:sp>
        <p:nvSpPr>
          <p:cNvPr id="16" name="Text 12"/>
          <p:cNvSpPr txBox="1"/>
          <p:nvPr/>
        </p:nvSpPr>
        <p:spPr>
          <a:xfrm>
            <a:off x="8366760" y="950976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b="1" spc="80" kern="0" dirty="0">
                <a:solidFill>
                  <a:srgbClr val="C451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CURRENT LEAD</a:t>
            </a:r>
            <a:endParaRPr lang="en-US" sz="710" dirty="0"/>
          </a:p>
        </p:txBody>
      </p:sp>
      <p:sp>
        <p:nvSpPr>
          <p:cNvPr id="17" name="Text 13"/>
          <p:cNvSpPr txBox="1"/>
          <p:nvPr/>
        </p:nvSpPr>
        <p:spPr>
          <a:xfrm>
            <a:off x="8366760" y="1124712"/>
            <a:ext cx="1600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OPEN</a:t>
            </a:r>
            <a:endParaRPr lang="en-US" sz="1030" dirty="0"/>
          </a:p>
        </p:txBody>
      </p:sp>
      <p:sp>
        <p:nvSpPr>
          <p:cNvPr id="18" name="Text 14"/>
          <p:cNvSpPr txBox="1"/>
          <p:nvPr/>
        </p:nvSpPr>
        <p:spPr>
          <a:xfrm>
            <a:off x="10085832" y="950976"/>
            <a:ext cx="1426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b="1" spc="80" kern="0" dirty="0">
                <a:solidFill>
                  <a:srgbClr val="C451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STATUS</a:t>
            </a:r>
            <a:endParaRPr lang="en-US" sz="710" dirty="0"/>
          </a:p>
        </p:txBody>
      </p:sp>
      <p:sp>
        <p:nvSpPr>
          <p:cNvPr id="19" name="Text 15"/>
          <p:cNvSpPr txBox="1"/>
          <p:nvPr/>
        </p:nvSpPr>
        <p:spPr>
          <a:xfrm>
            <a:off x="10085832" y="1124712"/>
            <a:ext cx="14264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Active · integration continuing</a:t>
            </a:r>
            <a:endParaRPr lang="en-US" sz="1030" dirty="0"/>
          </a:p>
        </p:txBody>
      </p:sp>
      <p:sp>
        <p:nvSpPr>
          <p:cNvPr id="20" name="Shape 16"/>
          <p:cNvSpPr/>
          <p:nvPr/>
        </p:nvSpPr>
        <p:spPr>
          <a:xfrm>
            <a:off x="530352" y="1993392"/>
            <a:ext cx="2450592" cy="713232"/>
          </a:xfrm>
          <a:prstGeom prst="roundRect">
            <a:avLst>
              <a:gd name="adj" fmla="val 4487"/>
            </a:avLst>
          </a:prstGeom>
          <a:solidFill>
            <a:srgbClr val="FFFFFF"/>
          </a:solidFill>
          <a:ln w="10160">
            <a:solidFill>
              <a:srgbClr val="101214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30352" y="1993392"/>
            <a:ext cx="50292" cy="713232"/>
          </a:xfrm>
          <a:prstGeom prst="rect">
            <a:avLst/>
          </a:prstGeom>
          <a:solidFill>
            <a:srgbClr val="C45124"/>
          </a:solidFill>
          <a:ln w="12700">
            <a:solidFill>
              <a:srgbClr val="C45124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6656" y="2157984"/>
            <a:ext cx="384048" cy="38404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188720" y="2093976"/>
            <a:ext cx="1627632" cy="2710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SABLE HARBOR</a:t>
            </a:r>
            <a:endParaRPr lang="en-US" sz="1140" dirty="0"/>
          </a:p>
        </p:txBody>
      </p:sp>
      <p:sp>
        <p:nvSpPr>
          <p:cNvPr id="24" name="Text 19"/>
          <p:cNvSpPr txBox="1"/>
          <p:nvPr/>
        </p:nvSpPr>
        <p:spPr>
          <a:xfrm>
            <a:off x="1188720" y="2335743"/>
            <a:ext cx="1627632" cy="313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Parent organization</a:t>
            </a:r>
            <a:endParaRPr lang="en-US" sz="880" dirty="0"/>
          </a:p>
        </p:txBody>
      </p:sp>
      <p:sp>
        <p:nvSpPr>
          <p:cNvPr id="25" name="Shape 20"/>
          <p:cNvSpPr/>
          <p:nvPr/>
        </p:nvSpPr>
        <p:spPr>
          <a:xfrm>
            <a:off x="530352" y="2944368"/>
            <a:ext cx="2450592" cy="713232"/>
          </a:xfrm>
          <a:prstGeom prst="roundRect">
            <a:avLst>
              <a:gd name="adj" fmla="val 4487"/>
            </a:avLst>
          </a:prstGeom>
          <a:solidFill>
            <a:srgbClr val="FFFFFF"/>
          </a:solidFill>
          <a:ln w="10160">
            <a:solidFill>
              <a:srgbClr val="101214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530352" y="2944368"/>
            <a:ext cx="50292" cy="713232"/>
          </a:xfrm>
          <a:prstGeom prst="rect">
            <a:avLst/>
          </a:prstGeom>
          <a:solidFill>
            <a:srgbClr val="C38B1F"/>
          </a:solidFill>
          <a:ln w="12700">
            <a:solidFill>
              <a:srgbClr val="C38B1F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6656" y="3108960"/>
            <a:ext cx="384048" cy="38404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188720" y="3044952"/>
            <a:ext cx="1627632" cy="2710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PALE SUN</a:t>
            </a:r>
            <a:endParaRPr lang="en-US" sz="1140" dirty="0"/>
          </a:p>
        </p:txBody>
      </p:sp>
      <p:sp>
        <p:nvSpPr>
          <p:cNvPr id="29" name="Text 23"/>
          <p:cNvSpPr txBox="1"/>
          <p:nvPr/>
        </p:nvSpPr>
        <p:spPr>
          <a:xfrm>
            <a:off x="1188720" y="3286719"/>
            <a:ext cx="1627632" cy="313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Operating / custody interface</a:t>
            </a:r>
            <a:endParaRPr lang="en-US" sz="860" dirty="0"/>
          </a:p>
        </p:txBody>
      </p:sp>
      <p:sp>
        <p:nvSpPr>
          <p:cNvPr id="30" name="Shape 24"/>
          <p:cNvSpPr/>
          <p:nvPr/>
        </p:nvSpPr>
        <p:spPr>
          <a:xfrm>
            <a:off x="530352" y="3895344"/>
            <a:ext cx="2450592" cy="713232"/>
          </a:xfrm>
          <a:prstGeom prst="roundRect">
            <a:avLst>
              <a:gd name="adj" fmla="val 4487"/>
            </a:avLst>
          </a:prstGeom>
          <a:solidFill>
            <a:srgbClr val="FFFFFF"/>
          </a:solidFill>
          <a:ln w="10160">
            <a:solidFill>
              <a:srgbClr val="101214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530352" y="3895344"/>
            <a:ext cx="50292" cy="713232"/>
          </a:xfrm>
          <a:prstGeom prst="rect">
            <a:avLst/>
          </a:prstGeom>
          <a:solidFill>
            <a:srgbClr val="C45124"/>
          </a:solidFill>
          <a:ln w="12700">
            <a:solidFill>
              <a:srgbClr val="C45124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6656" y="4059936"/>
            <a:ext cx="384048" cy="384048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188720" y="3995928"/>
            <a:ext cx="1627632" cy="2710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FOUNDRY</a:t>
            </a:r>
            <a:endParaRPr lang="en-US" sz="1140" dirty="0"/>
          </a:p>
        </p:txBody>
      </p:sp>
      <p:sp>
        <p:nvSpPr>
          <p:cNvPr id="34" name="Text 27"/>
          <p:cNvSpPr txBox="1"/>
          <p:nvPr/>
        </p:nvSpPr>
        <p:spPr>
          <a:xfrm>
            <a:off x="1188720" y="4237695"/>
            <a:ext cx="1627632" cy="313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Representation &amp; workflow</a:t>
            </a:r>
            <a:endParaRPr lang="en-US" sz="860" dirty="0"/>
          </a:p>
        </p:txBody>
      </p:sp>
      <p:sp>
        <p:nvSpPr>
          <p:cNvPr id="35" name="Shape 28"/>
          <p:cNvSpPr/>
          <p:nvPr/>
        </p:nvSpPr>
        <p:spPr>
          <a:xfrm>
            <a:off x="9217152" y="1993392"/>
            <a:ext cx="2450592" cy="713232"/>
          </a:xfrm>
          <a:prstGeom prst="roundRect">
            <a:avLst>
              <a:gd name="adj" fmla="val 4487"/>
            </a:avLst>
          </a:prstGeom>
          <a:solidFill>
            <a:srgbClr val="FFFFFF"/>
          </a:solidFill>
          <a:ln w="10160">
            <a:solidFill>
              <a:srgbClr val="101214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9217152" y="1993392"/>
            <a:ext cx="50292" cy="713232"/>
          </a:xfrm>
          <a:prstGeom prst="rect">
            <a:avLst/>
          </a:prstGeom>
          <a:solidFill>
            <a:srgbClr val="456C98"/>
          </a:solidFill>
          <a:ln w="12700">
            <a:solidFill>
              <a:srgbClr val="456C98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363456" y="2157984"/>
            <a:ext cx="384048" cy="384048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9875520" y="2093976"/>
            <a:ext cx="1627632" cy="2710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ADVISORY</a:t>
            </a:r>
            <a:endParaRPr lang="en-US" sz="1140" dirty="0"/>
          </a:p>
        </p:txBody>
      </p:sp>
      <p:sp>
        <p:nvSpPr>
          <p:cNvPr id="39" name="Text 31"/>
          <p:cNvSpPr txBox="1"/>
          <p:nvPr/>
        </p:nvSpPr>
        <p:spPr>
          <a:xfrm>
            <a:off x="9875520" y="2335743"/>
            <a:ext cx="1627632" cy="313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Method-transfer interface</a:t>
            </a:r>
            <a:endParaRPr lang="en-US" sz="860" dirty="0"/>
          </a:p>
        </p:txBody>
      </p:sp>
      <p:sp>
        <p:nvSpPr>
          <p:cNvPr id="40" name="Shape 32"/>
          <p:cNvSpPr/>
          <p:nvPr/>
        </p:nvSpPr>
        <p:spPr>
          <a:xfrm>
            <a:off x="9217152" y="2944368"/>
            <a:ext cx="2450592" cy="713232"/>
          </a:xfrm>
          <a:prstGeom prst="roundRect">
            <a:avLst>
              <a:gd name="adj" fmla="val 4487"/>
            </a:avLst>
          </a:prstGeom>
          <a:solidFill>
            <a:srgbClr val="FFFFFF"/>
          </a:solidFill>
          <a:ln w="10160">
            <a:solidFill>
              <a:srgbClr val="101214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9217152" y="2944368"/>
            <a:ext cx="50292" cy="713232"/>
          </a:xfrm>
          <a:prstGeom prst="rect">
            <a:avLst/>
          </a:prstGeom>
          <a:solidFill>
            <a:srgbClr val="315F4D"/>
          </a:solidFill>
          <a:ln w="12700">
            <a:solidFill>
              <a:srgbClr val="315F4D"/>
            </a:solidFill>
            <a:prstDash val="solid"/>
          </a:ln>
        </p:spPr>
      </p:sp>
      <p:sp>
        <p:nvSpPr>
          <p:cNvPr id="42" name="Text 34"/>
          <p:cNvSpPr txBox="1"/>
          <p:nvPr/>
        </p:nvSpPr>
        <p:spPr>
          <a:xfrm>
            <a:off x="9400032" y="3044952"/>
            <a:ext cx="2103120" cy="2710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CALEB HARGROVE</a:t>
            </a:r>
            <a:endParaRPr lang="en-US" sz="1140" dirty="0"/>
          </a:p>
        </p:txBody>
      </p:sp>
      <p:sp>
        <p:nvSpPr>
          <p:cNvPr id="43" name="Text 35"/>
          <p:cNvSpPr txBox="1"/>
          <p:nvPr/>
        </p:nvSpPr>
        <p:spPr>
          <a:xfrm>
            <a:off x="9400032" y="3286719"/>
            <a:ext cx="2103120" cy="313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Field / operating authority</a:t>
            </a:r>
            <a:endParaRPr lang="en-US" sz="860" dirty="0"/>
          </a:p>
        </p:txBody>
      </p:sp>
      <p:sp>
        <p:nvSpPr>
          <p:cNvPr id="44" name="Shape 36"/>
          <p:cNvSpPr/>
          <p:nvPr/>
        </p:nvSpPr>
        <p:spPr>
          <a:xfrm>
            <a:off x="4014216" y="1947672"/>
            <a:ext cx="4160520" cy="749808"/>
          </a:xfrm>
          <a:prstGeom prst="roundRect">
            <a:avLst>
              <a:gd name="adj" fmla="val 4268"/>
            </a:avLst>
          </a:prstGeom>
          <a:solidFill>
            <a:srgbClr val="FFFFFF"/>
          </a:solidFill>
          <a:ln w="10160">
            <a:solidFill>
              <a:srgbClr val="101214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45" name="Shape 37"/>
          <p:cNvSpPr/>
          <p:nvPr/>
        </p:nvSpPr>
        <p:spPr>
          <a:xfrm>
            <a:off x="4014216" y="1947672"/>
            <a:ext cx="50292" cy="749808"/>
          </a:xfrm>
          <a:prstGeom prst="rect">
            <a:avLst/>
          </a:prstGeom>
          <a:solidFill>
            <a:srgbClr val="C45124"/>
          </a:solidFill>
          <a:ln w="12700">
            <a:solidFill>
              <a:srgbClr val="C45124"/>
            </a:solidFill>
            <a:prstDash val="solid"/>
          </a:ln>
        </p:spPr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160520" y="2112264"/>
            <a:ext cx="402336" cy="402336"/>
          </a:xfrm>
          <a:prstGeom prst="rect">
            <a:avLst/>
          </a:prstGeom>
        </p:spPr>
      </p:pic>
      <p:sp>
        <p:nvSpPr>
          <p:cNvPr id="47" name="Text 38"/>
          <p:cNvSpPr txBox="1"/>
          <p:nvPr/>
        </p:nvSpPr>
        <p:spPr>
          <a:xfrm>
            <a:off x="4672584" y="204825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AMERICAN RESOURCE UTILITY</a:t>
            </a:r>
            <a:endParaRPr lang="en-US" sz="1450" dirty="0"/>
          </a:p>
        </p:txBody>
      </p:sp>
      <p:sp>
        <p:nvSpPr>
          <p:cNvPr id="48" name="Text 39"/>
          <p:cNvSpPr txBox="1"/>
          <p:nvPr/>
        </p:nvSpPr>
        <p:spPr>
          <a:xfrm>
            <a:off x="4672584" y="2307580"/>
            <a:ext cx="3337560" cy="329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Distinct acquired operating company</a:t>
            </a:r>
            <a:endParaRPr lang="en-US" sz="970" dirty="0"/>
          </a:p>
        </p:txBody>
      </p:sp>
      <p:sp>
        <p:nvSpPr>
          <p:cNvPr id="49" name="Shape 40"/>
          <p:cNvSpPr/>
          <p:nvPr/>
        </p:nvSpPr>
        <p:spPr>
          <a:xfrm>
            <a:off x="4425696" y="3099816"/>
            <a:ext cx="3337560" cy="694944"/>
          </a:xfrm>
          <a:prstGeom prst="roundRect">
            <a:avLst>
              <a:gd name="adj" fmla="val 4605"/>
            </a:avLst>
          </a:prstGeom>
          <a:solidFill>
            <a:srgbClr val="F0EFEC"/>
          </a:solidFill>
          <a:ln w="15240">
            <a:solidFill>
              <a:srgbClr val="8B8E91"/>
            </a:solidFill>
            <a:prstDash val="solid"/>
          </a:ln>
        </p:spPr>
      </p:sp>
      <p:sp>
        <p:nvSpPr>
          <p:cNvPr id="50" name="Shape 41"/>
          <p:cNvSpPr/>
          <p:nvPr/>
        </p:nvSpPr>
        <p:spPr>
          <a:xfrm>
            <a:off x="4425696" y="3099816"/>
            <a:ext cx="50292" cy="694944"/>
          </a:xfrm>
          <a:prstGeom prst="rect">
            <a:avLst/>
          </a:prstGeom>
          <a:solidFill>
            <a:srgbClr val="8B8E91"/>
          </a:solidFill>
          <a:ln w="12700">
            <a:solidFill>
              <a:srgbClr val="8B8E91"/>
            </a:solidFill>
            <a:prstDash val="solid"/>
          </a:ln>
        </p:spPr>
      </p:sp>
      <p:sp>
        <p:nvSpPr>
          <p:cNvPr id="51" name="Text 42"/>
          <p:cNvSpPr txBox="1"/>
          <p:nvPr/>
        </p:nvSpPr>
        <p:spPr>
          <a:xfrm>
            <a:off x="4608576" y="3200400"/>
            <a:ext cx="2990088" cy="2640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8B8E9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OPERATING LEADER — OPEN</a:t>
            </a:r>
            <a:endParaRPr lang="en-US" sz="1250" dirty="0"/>
          </a:p>
        </p:txBody>
      </p:sp>
      <p:sp>
        <p:nvSpPr>
          <p:cNvPr id="52" name="Text 43"/>
          <p:cNvSpPr txBox="1"/>
          <p:nvPr/>
        </p:nvSpPr>
        <p:spPr>
          <a:xfrm>
            <a:off x="4608576" y="3433389"/>
            <a:ext cx="2990088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9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Named role not yet locked</a:t>
            </a:r>
            <a:endParaRPr lang="en-US" sz="890" dirty="0"/>
          </a:p>
        </p:txBody>
      </p:sp>
      <p:sp>
        <p:nvSpPr>
          <p:cNvPr id="53" name="Shape 44"/>
          <p:cNvSpPr/>
          <p:nvPr/>
        </p:nvSpPr>
        <p:spPr>
          <a:xfrm>
            <a:off x="4169664" y="4379976"/>
            <a:ext cx="3849624" cy="749808"/>
          </a:xfrm>
          <a:prstGeom prst="roundRect">
            <a:avLst>
              <a:gd name="adj" fmla="val 4268"/>
            </a:avLst>
          </a:prstGeom>
          <a:solidFill>
            <a:srgbClr val="FFFFFF"/>
          </a:solidFill>
          <a:ln w="10160">
            <a:solidFill>
              <a:srgbClr val="101214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54" name="Shape 45"/>
          <p:cNvSpPr/>
          <p:nvPr/>
        </p:nvSpPr>
        <p:spPr>
          <a:xfrm>
            <a:off x="4169664" y="4379976"/>
            <a:ext cx="50292" cy="749808"/>
          </a:xfrm>
          <a:prstGeom prst="rect">
            <a:avLst/>
          </a:prstGeom>
          <a:solidFill>
            <a:srgbClr val="B94C2C"/>
          </a:solidFill>
          <a:ln w="12700">
            <a:solidFill>
              <a:srgbClr val="B94C2C"/>
            </a:solidFill>
            <a:prstDash val="solid"/>
          </a:ln>
        </p:spPr>
      </p:sp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315968" y="4544568"/>
            <a:ext cx="402336" cy="402336"/>
          </a:xfrm>
          <a:prstGeom prst="rect">
            <a:avLst/>
          </a:prstGeom>
        </p:spPr>
      </p:pic>
      <p:sp>
        <p:nvSpPr>
          <p:cNvPr id="56" name="Text 46"/>
          <p:cNvSpPr txBox="1"/>
          <p:nvPr/>
        </p:nvSpPr>
        <p:spPr>
          <a:xfrm>
            <a:off x="4828032" y="4480560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BLOOD, SWEAT &amp; TEARS RAILWAY</a:t>
            </a:r>
            <a:endParaRPr lang="en-US" sz="1260" dirty="0"/>
          </a:p>
        </p:txBody>
      </p:sp>
      <p:sp>
        <p:nvSpPr>
          <p:cNvPr id="57" name="Text 47"/>
          <p:cNvSpPr txBox="1"/>
          <p:nvPr/>
        </p:nvSpPr>
        <p:spPr>
          <a:xfrm>
            <a:off x="4828032" y="4739884"/>
            <a:ext cx="3026664" cy="329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ARU railway / short-line component</a:t>
            </a:r>
            <a:endParaRPr lang="en-US" sz="920" dirty="0"/>
          </a:p>
        </p:txBody>
      </p:sp>
      <p:sp>
        <p:nvSpPr>
          <p:cNvPr id="58" name="Shape 48"/>
          <p:cNvSpPr/>
          <p:nvPr/>
        </p:nvSpPr>
        <p:spPr>
          <a:xfrm>
            <a:off x="6094476" y="2697480"/>
            <a:ext cx="0" cy="402336"/>
          </a:xfrm>
          <a:prstGeom prst="line">
            <a:avLst/>
          </a:prstGeom>
          <a:noFill/>
          <a:ln w="15240">
            <a:solidFill>
              <a:srgbClr val="101214"/>
            </a:solidFill>
            <a:prstDash val="solid"/>
            <a:tailEnd type="triangle"/>
          </a:ln>
        </p:spPr>
      </p:sp>
      <p:sp>
        <p:nvSpPr>
          <p:cNvPr id="59" name="Shape 49"/>
          <p:cNvSpPr/>
          <p:nvPr/>
        </p:nvSpPr>
        <p:spPr>
          <a:xfrm>
            <a:off x="6094476" y="3794760"/>
            <a:ext cx="0" cy="585216"/>
          </a:xfrm>
          <a:prstGeom prst="line">
            <a:avLst/>
          </a:prstGeom>
          <a:noFill/>
          <a:ln w="15240">
            <a:solidFill>
              <a:srgbClr val="101214"/>
            </a:solidFill>
            <a:prstDash val="solid"/>
            <a:tailEnd type="triangle"/>
          </a:ln>
        </p:spPr>
      </p:sp>
      <p:sp>
        <p:nvSpPr>
          <p:cNvPr id="60" name="Shape 50"/>
          <p:cNvSpPr/>
          <p:nvPr/>
        </p:nvSpPr>
        <p:spPr>
          <a:xfrm>
            <a:off x="2980944" y="2350008"/>
            <a:ext cx="516636" cy="0"/>
          </a:xfrm>
          <a:prstGeom prst="line">
            <a:avLst/>
          </a:prstGeom>
          <a:noFill/>
          <a:ln w="11430">
            <a:solidFill>
              <a:srgbClr val="C45124"/>
            </a:solidFill>
            <a:prstDash val="solid"/>
          </a:ln>
        </p:spPr>
      </p:sp>
      <p:sp>
        <p:nvSpPr>
          <p:cNvPr id="61" name="Shape 51"/>
          <p:cNvSpPr/>
          <p:nvPr/>
        </p:nvSpPr>
        <p:spPr>
          <a:xfrm>
            <a:off x="3497580" y="2322576"/>
            <a:ext cx="0" cy="27432"/>
          </a:xfrm>
          <a:prstGeom prst="line">
            <a:avLst/>
          </a:prstGeom>
          <a:noFill/>
          <a:ln w="11430">
            <a:solidFill>
              <a:srgbClr val="C45124"/>
            </a:solidFill>
            <a:prstDash val="solid"/>
          </a:ln>
        </p:spPr>
      </p:sp>
      <p:sp>
        <p:nvSpPr>
          <p:cNvPr id="62" name="Shape 52"/>
          <p:cNvSpPr/>
          <p:nvPr/>
        </p:nvSpPr>
        <p:spPr>
          <a:xfrm>
            <a:off x="3497580" y="2322576"/>
            <a:ext cx="516636" cy="0"/>
          </a:xfrm>
          <a:prstGeom prst="line">
            <a:avLst/>
          </a:prstGeom>
          <a:noFill/>
          <a:ln w="11430">
            <a:solidFill>
              <a:srgbClr val="C45124"/>
            </a:solidFill>
            <a:prstDash val="solid"/>
            <a:tailEnd type="triangle"/>
          </a:ln>
        </p:spPr>
      </p:sp>
      <p:sp>
        <p:nvSpPr>
          <p:cNvPr id="63" name="Shape 53"/>
          <p:cNvSpPr/>
          <p:nvPr/>
        </p:nvSpPr>
        <p:spPr>
          <a:xfrm>
            <a:off x="2980944" y="3300984"/>
            <a:ext cx="516636" cy="0"/>
          </a:xfrm>
          <a:prstGeom prst="line">
            <a:avLst/>
          </a:prstGeom>
          <a:noFill/>
          <a:ln w="10160">
            <a:solidFill>
              <a:srgbClr val="C38B1F"/>
            </a:solidFill>
            <a:prstDash val="solid"/>
          </a:ln>
        </p:spPr>
      </p:sp>
      <p:sp>
        <p:nvSpPr>
          <p:cNvPr id="64" name="Shape 54"/>
          <p:cNvSpPr/>
          <p:nvPr/>
        </p:nvSpPr>
        <p:spPr>
          <a:xfrm>
            <a:off x="3497580" y="2322576"/>
            <a:ext cx="0" cy="978408"/>
          </a:xfrm>
          <a:prstGeom prst="line">
            <a:avLst/>
          </a:prstGeom>
          <a:noFill/>
          <a:ln w="10160">
            <a:solidFill>
              <a:srgbClr val="C38B1F"/>
            </a:solidFill>
            <a:prstDash val="solid"/>
          </a:ln>
        </p:spPr>
      </p:sp>
      <p:sp>
        <p:nvSpPr>
          <p:cNvPr id="65" name="Shape 55"/>
          <p:cNvSpPr/>
          <p:nvPr/>
        </p:nvSpPr>
        <p:spPr>
          <a:xfrm>
            <a:off x="3497580" y="2322576"/>
            <a:ext cx="516636" cy="0"/>
          </a:xfrm>
          <a:prstGeom prst="line">
            <a:avLst/>
          </a:prstGeom>
          <a:noFill/>
          <a:ln w="10160">
            <a:solidFill>
              <a:srgbClr val="C38B1F"/>
            </a:solidFill>
            <a:prstDash val="solid"/>
            <a:tailEnd type="triangle"/>
          </a:ln>
        </p:spPr>
      </p:sp>
      <p:sp>
        <p:nvSpPr>
          <p:cNvPr id="66" name="Shape 56"/>
          <p:cNvSpPr/>
          <p:nvPr/>
        </p:nvSpPr>
        <p:spPr>
          <a:xfrm>
            <a:off x="2980944" y="4251960"/>
            <a:ext cx="516636" cy="0"/>
          </a:xfrm>
          <a:prstGeom prst="line">
            <a:avLst/>
          </a:prstGeom>
          <a:noFill/>
          <a:ln w="10160">
            <a:solidFill>
              <a:srgbClr val="C45124"/>
            </a:solidFill>
            <a:prstDash val="solid"/>
          </a:ln>
        </p:spPr>
      </p:sp>
      <p:sp>
        <p:nvSpPr>
          <p:cNvPr id="67" name="Shape 57"/>
          <p:cNvSpPr/>
          <p:nvPr/>
        </p:nvSpPr>
        <p:spPr>
          <a:xfrm>
            <a:off x="3497580" y="2322576"/>
            <a:ext cx="0" cy="1929384"/>
          </a:xfrm>
          <a:prstGeom prst="line">
            <a:avLst/>
          </a:prstGeom>
          <a:noFill/>
          <a:ln w="10160">
            <a:solidFill>
              <a:srgbClr val="C45124"/>
            </a:solidFill>
            <a:prstDash val="solid"/>
          </a:ln>
        </p:spPr>
      </p:sp>
      <p:sp>
        <p:nvSpPr>
          <p:cNvPr id="68" name="Shape 58"/>
          <p:cNvSpPr/>
          <p:nvPr/>
        </p:nvSpPr>
        <p:spPr>
          <a:xfrm>
            <a:off x="3497580" y="2322576"/>
            <a:ext cx="516636" cy="0"/>
          </a:xfrm>
          <a:prstGeom prst="line">
            <a:avLst/>
          </a:prstGeom>
          <a:noFill/>
          <a:ln w="10160">
            <a:solidFill>
              <a:srgbClr val="C45124"/>
            </a:solidFill>
            <a:prstDash val="solid"/>
            <a:tailEnd type="triangle"/>
          </a:ln>
        </p:spPr>
      </p:sp>
      <p:sp>
        <p:nvSpPr>
          <p:cNvPr id="69" name="Shape 59"/>
          <p:cNvSpPr/>
          <p:nvPr/>
        </p:nvSpPr>
        <p:spPr>
          <a:xfrm>
            <a:off x="8174736" y="2322576"/>
            <a:ext cx="521208" cy="0"/>
          </a:xfrm>
          <a:prstGeom prst="line">
            <a:avLst/>
          </a:prstGeom>
          <a:noFill/>
          <a:ln w="10160">
            <a:solidFill>
              <a:srgbClr val="456C98"/>
            </a:solidFill>
            <a:prstDash val="solid"/>
          </a:ln>
        </p:spPr>
      </p:sp>
      <p:sp>
        <p:nvSpPr>
          <p:cNvPr id="70" name="Shape 60"/>
          <p:cNvSpPr/>
          <p:nvPr/>
        </p:nvSpPr>
        <p:spPr>
          <a:xfrm>
            <a:off x="8695944" y="2322576"/>
            <a:ext cx="0" cy="27432"/>
          </a:xfrm>
          <a:prstGeom prst="line">
            <a:avLst/>
          </a:prstGeom>
          <a:noFill/>
          <a:ln w="10160">
            <a:solidFill>
              <a:srgbClr val="456C98"/>
            </a:solidFill>
            <a:prstDash val="solid"/>
          </a:ln>
        </p:spPr>
      </p:sp>
      <p:sp>
        <p:nvSpPr>
          <p:cNvPr id="71" name="Shape 61"/>
          <p:cNvSpPr/>
          <p:nvPr/>
        </p:nvSpPr>
        <p:spPr>
          <a:xfrm>
            <a:off x="8695944" y="2350008"/>
            <a:ext cx="521208" cy="0"/>
          </a:xfrm>
          <a:prstGeom prst="line">
            <a:avLst/>
          </a:prstGeom>
          <a:noFill/>
          <a:ln w="10160">
            <a:solidFill>
              <a:srgbClr val="456C98"/>
            </a:solidFill>
            <a:prstDash val="solid"/>
            <a:tailEnd type="triangle"/>
          </a:ln>
        </p:spPr>
      </p:sp>
      <p:sp>
        <p:nvSpPr>
          <p:cNvPr id="72" name="Shape 62"/>
          <p:cNvSpPr/>
          <p:nvPr/>
        </p:nvSpPr>
        <p:spPr>
          <a:xfrm>
            <a:off x="8174736" y="2322576"/>
            <a:ext cx="521208" cy="0"/>
          </a:xfrm>
          <a:prstGeom prst="line">
            <a:avLst/>
          </a:prstGeom>
          <a:noFill/>
          <a:ln w="10160">
            <a:solidFill>
              <a:srgbClr val="315F4D"/>
            </a:solidFill>
            <a:prstDash val="solid"/>
          </a:ln>
        </p:spPr>
      </p:sp>
      <p:sp>
        <p:nvSpPr>
          <p:cNvPr id="73" name="Shape 63"/>
          <p:cNvSpPr/>
          <p:nvPr/>
        </p:nvSpPr>
        <p:spPr>
          <a:xfrm>
            <a:off x="8695944" y="2322576"/>
            <a:ext cx="0" cy="978408"/>
          </a:xfrm>
          <a:prstGeom prst="line">
            <a:avLst/>
          </a:prstGeom>
          <a:noFill/>
          <a:ln w="10160">
            <a:solidFill>
              <a:srgbClr val="315F4D"/>
            </a:solidFill>
            <a:prstDash val="solid"/>
          </a:ln>
        </p:spPr>
      </p:sp>
      <p:sp>
        <p:nvSpPr>
          <p:cNvPr id="74" name="Shape 64"/>
          <p:cNvSpPr/>
          <p:nvPr/>
        </p:nvSpPr>
        <p:spPr>
          <a:xfrm>
            <a:off x="8695944" y="3300984"/>
            <a:ext cx="521208" cy="0"/>
          </a:xfrm>
          <a:prstGeom prst="line">
            <a:avLst/>
          </a:prstGeom>
          <a:noFill/>
          <a:ln w="10160">
            <a:solidFill>
              <a:srgbClr val="315F4D"/>
            </a:solidFill>
            <a:prstDash val="solid"/>
            <a:tailEnd type="triangle"/>
          </a:ln>
        </p:spPr>
      </p:sp>
      <p:sp>
        <p:nvSpPr>
          <p:cNvPr id="75" name="Shape 65"/>
          <p:cNvSpPr/>
          <p:nvPr/>
        </p:nvSpPr>
        <p:spPr>
          <a:xfrm>
            <a:off x="658368" y="6016752"/>
            <a:ext cx="10881360" cy="310896"/>
          </a:xfrm>
          <a:prstGeom prst="roundRect">
            <a:avLst>
              <a:gd name="adj" fmla="val 7353"/>
            </a:avLst>
          </a:prstGeom>
          <a:solidFill>
            <a:srgbClr val="FCFBF8"/>
          </a:solidFill>
          <a:ln w="10160">
            <a:solidFill>
              <a:srgbClr val="D9D5CD"/>
            </a:solidFill>
            <a:prstDash val="solid"/>
          </a:ln>
        </p:spPr>
      </p:sp>
      <p:sp>
        <p:nvSpPr>
          <p:cNvPr id="76" name="Shape 66"/>
          <p:cNvSpPr/>
          <p:nvPr/>
        </p:nvSpPr>
        <p:spPr>
          <a:xfrm>
            <a:off x="658368" y="6016752"/>
            <a:ext cx="64008" cy="310896"/>
          </a:xfrm>
          <a:prstGeom prst="rect">
            <a:avLst/>
          </a:prstGeom>
          <a:solidFill>
            <a:srgbClr val="C45124"/>
          </a:solidFill>
          <a:ln w="12700">
            <a:solidFill>
              <a:srgbClr val="C45124"/>
            </a:solidFill>
            <a:prstDash val="solid"/>
          </a:ln>
        </p:spPr>
      </p:sp>
      <p:sp>
        <p:nvSpPr>
          <p:cNvPr id="77" name="Text 67"/>
          <p:cNvSpPr txBox="1"/>
          <p:nvPr/>
        </p:nvSpPr>
        <p:spPr>
          <a:xfrm>
            <a:off x="841248" y="6044184"/>
            <a:ext cx="10561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Integration rule: ARU remains operationally distinct while Sable Harbor learns the legacy system. Exact routes, assets, workforce, headquarters, and final integration structure remain OPEN.</a:t>
            </a:r>
            <a:endParaRPr lang="en-US" sz="860" dirty="0"/>
          </a:p>
        </p:txBody>
      </p:sp>
      <p:sp>
        <p:nvSpPr>
          <p:cNvPr id="78" name="Text 68"/>
          <p:cNvSpPr txBox="1"/>
          <p:nvPr/>
        </p:nvSpPr>
        <p:spPr>
          <a:xfrm>
            <a:off x="438912" y="6510528"/>
            <a:ext cx="4114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Canon date: August 31, 2026</a:t>
            </a:r>
            <a:endParaRPr lang="en-US" sz="760" dirty="0"/>
          </a:p>
        </p:txBody>
      </p:sp>
      <p:sp>
        <p:nvSpPr>
          <p:cNvPr id="79" name="Text 69"/>
          <p:cNvSpPr txBox="1"/>
          <p:nvPr/>
        </p:nvSpPr>
        <p:spPr>
          <a:xfrm>
            <a:off x="4572000" y="647395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Solid line = unit leadership or containment  •  Dashed line = cross-company interface  •  OPEN = unresolved by canon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77A7D"/>
                </a:solidFill>
                <a:latin typeface="Inter Display"/>
                <a:ea typeface="Inter Display"/>
                <a:cs typeface="Inter Display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1480" y="210312"/>
            <a:ext cx="347472" cy="34747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8288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spc="120" kern="0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SABLE HARBOR</a:t>
            </a:r>
            <a:endParaRPr lang="en-US" sz="135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40233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70" spc="110" kern="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ORGANIZATION BRIEFING</a:t>
            </a:r>
            <a:endParaRPr lang="en-US" sz="770" dirty="0"/>
          </a:p>
        </p:txBody>
      </p:sp>
      <p:sp>
        <p:nvSpPr>
          <p:cNvPr id="5" name="Shape 2"/>
          <p:cNvSpPr/>
          <p:nvPr/>
        </p:nvSpPr>
        <p:spPr>
          <a:xfrm>
            <a:off x="2468880" y="182880"/>
            <a:ext cx="0" cy="393192"/>
          </a:xfrm>
          <a:prstGeom prst="line">
            <a:avLst/>
          </a:prstGeom>
          <a:noFill/>
          <a:ln w="12700">
            <a:solidFill>
              <a:srgbClr val="D9D5CD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24912" y="173736"/>
            <a:ext cx="393192" cy="39319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218688" y="137160"/>
            <a:ext cx="8138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spc="60" kern="0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ADVISORY</a:t>
            </a:r>
            <a:endParaRPr lang="en-US" sz="2300" dirty="0"/>
          </a:p>
        </p:txBody>
      </p:sp>
      <p:sp>
        <p:nvSpPr>
          <p:cNvPr id="8" name="Text 4"/>
          <p:cNvSpPr txBox="1"/>
          <p:nvPr/>
        </p:nvSpPr>
        <p:spPr>
          <a:xfrm>
            <a:off x="3218688" y="448056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Emerging method-transfer practice and organizational interfaces</a:t>
            </a:r>
            <a:endParaRPr lang="en-US" sz="940" dirty="0"/>
          </a:p>
        </p:txBody>
      </p:sp>
      <p:sp>
        <p:nvSpPr>
          <p:cNvPr id="9" name="Shape 5"/>
          <p:cNvSpPr/>
          <p:nvPr/>
        </p:nvSpPr>
        <p:spPr>
          <a:xfrm>
            <a:off x="3218688" y="658368"/>
            <a:ext cx="8156448" cy="0"/>
          </a:xfrm>
          <a:prstGeom prst="line">
            <a:avLst/>
          </a:prstGeom>
          <a:noFill/>
          <a:ln w="30480">
            <a:solidFill>
              <a:srgbClr val="456C98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38912" y="841248"/>
            <a:ext cx="11320272" cy="749808"/>
          </a:xfrm>
          <a:prstGeom prst="roundRect">
            <a:avLst>
              <a:gd name="adj" fmla="val 6098"/>
            </a:avLst>
          </a:prstGeom>
          <a:solidFill>
            <a:srgbClr val="FCFBF8"/>
          </a:solidFill>
          <a:ln w="12700">
            <a:solidFill>
              <a:srgbClr val="D9D5CD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38912" y="841248"/>
            <a:ext cx="73152" cy="749808"/>
          </a:xfrm>
          <a:prstGeom prst="rect">
            <a:avLst/>
          </a:prstGeom>
          <a:solidFill>
            <a:srgbClr val="456C98"/>
          </a:solidFill>
          <a:ln w="12700">
            <a:solidFill>
              <a:srgbClr val="456C9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94944" y="950976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b="1" spc="80" kern="0" dirty="0">
                <a:solidFill>
                  <a:srgbClr val="456C9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HQ / OPERATING CENTER</a:t>
            </a:r>
            <a:endParaRPr lang="en-US" sz="710" dirty="0"/>
          </a:p>
        </p:txBody>
      </p:sp>
      <p:sp>
        <p:nvSpPr>
          <p:cNvPr id="13" name="Text 9"/>
          <p:cNvSpPr txBox="1"/>
          <p:nvPr/>
        </p:nvSpPr>
        <p:spPr>
          <a:xfrm>
            <a:off x="694944" y="1124712"/>
            <a:ext cx="2331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OPEN</a:t>
            </a:r>
            <a:endParaRPr lang="en-US" sz="103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Organizational home not locked</a:t>
            </a:r>
            <a:endParaRPr lang="en-US" sz="1030" dirty="0"/>
          </a:p>
        </p:txBody>
      </p:sp>
      <p:sp>
        <p:nvSpPr>
          <p:cNvPr id="14" name="Text 10"/>
          <p:cNvSpPr txBox="1"/>
          <p:nvPr/>
        </p:nvSpPr>
        <p:spPr>
          <a:xfrm>
            <a:off x="3118104" y="950976"/>
            <a:ext cx="5138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b="1" spc="80" kern="0" dirty="0">
                <a:solidFill>
                  <a:srgbClr val="456C9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BUSINESS</a:t>
            </a:r>
            <a:endParaRPr lang="en-US" sz="710" dirty="0"/>
          </a:p>
        </p:txBody>
      </p:sp>
      <p:sp>
        <p:nvSpPr>
          <p:cNvPr id="15" name="Text 11"/>
          <p:cNvSpPr txBox="1"/>
          <p:nvPr/>
        </p:nvSpPr>
        <p:spPr>
          <a:xfrm>
            <a:off x="3118104" y="1124712"/>
            <a:ext cx="51389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Operator-facing practice that transfers Sable Harbor’s operating and analytical method into systems the client can own.</a:t>
            </a:r>
            <a:endParaRPr lang="en-US" sz="1030" dirty="0"/>
          </a:p>
        </p:txBody>
      </p:sp>
      <p:sp>
        <p:nvSpPr>
          <p:cNvPr id="16" name="Text 12"/>
          <p:cNvSpPr txBox="1"/>
          <p:nvPr/>
        </p:nvSpPr>
        <p:spPr>
          <a:xfrm>
            <a:off x="8366760" y="950976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b="1" spc="80" kern="0" dirty="0">
                <a:solidFill>
                  <a:srgbClr val="456C9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CURRENT LEAD</a:t>
            </a:r>
            <a:endParaRPr lang="en-US" sz="710" dirty="0"/>
          </a:p>
        </p:txBody>
      </p:sp>
      <p:sp>
        <p:nvSpPr>
          <p:cNvPr id="17" name="Text 13"/>
          <p:cNvSpPr txBox="1"/>
          <p:nvPr/>
        </p:nvSpPr>
        <p:spPr>
          <a:xfrm>
            <a:off x="8366760" y="1124712"/>
            <a:ext cx="1600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OPEN</a:t>
            </a:r>
            <a:endParaRPr lang="en-US" sz="1030" dirty="0"/>
          </a:p>
        </p:txBody>
      </p:sp>
      <p:sp>
        <p:nvSpPr>
          <p:cNvPr id="18" name="Text 14"/>
          <p:cNvSpPr txBox="1"/>
          <p:nvPr/>
        </p:nvSpPr>
        <p:spPr>
          <a:xfrm>
            <a:off x="10085832" y="950976"/>
            <a:ext cx="1426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b="1" spc="80" kern="0" dirty="0">
                <a:solidFill>
                  <a:srgbClr val="456C9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STATUS</a:t>
            </a:r>
            <a:endParaRPr lang="en-US" sz="710" dirty="0"/>
          </a:p>
        </p:txBody>
      </p:sp>
      <p:sp>
        <p:nvSpPr>
          <p:cNvPr id="19" name="Text 15"/>
          <p:cNvSpPr txBox="1"/>
          <p:nvPr/>
        </p:nvSpPr>
        <p:spPr>
          <a:xfrm>
            <a:off x="10085832" y="1124712"/>
            <a:ext cx="14264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Emerging</a:t>
            </a:r>
            <a:endParaRPr lang="en-US" sz="1030" dirty="0"/>
          </a:p>
        </p:txBody>
      </p:sp>
      <p:sp>
        <p:nvSpPr>
          <p:cNvPr id="20" name="Shape 16"/>
          <p:cNvSpPr/>
          <p:nvPr/>
        </p:nvSpPr>
        <p:spPr>
          <a:xfrm>
            <a:off x="4005072" y="1856232"/>
            <a:ext cx="4178808" cy="749808"/>
          </a:xfrm>
          <a:prstGeom prst="roundRect">
            <a:avLst>
              <a:gd name="adj" fmla="val 4268"/>
            </a:avLst>
          </a:prstGeom>
          <a:solidFill>
            <a:srgbClr val="FFFFFF"/>
          </a:solidFill>
          <a:ln w="10160">
            <a:solidFill>
              <a:srgbClr val="101214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005072" y="1856232"/>
            <a:ext cx="50292" cy="749808"/>
          </a:xfrm>
          <a:prstGeom prst="rect">
            <a:avLst/>
          </a:prstGeom>
          <a:solidFill>
            <a:srgbClr val="456C98"/>
          </a:solidFill>
          <a:ln w="12700">
            <a:solidFill>
              <a:srgbClr val="456C98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51376" y="2020824"/>
            <a:ext cx="402336" cy="402336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663440" y="1956816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6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ADVISORY</a:t>
            </a:r>
            <a:endParaRPr lang="en-US" sz="1560" dirty="0"/>
          </a:p>
        </p:txBody>
      </p:sp>
      <p:sp>
        <p:nvSpPr>
          <p:cNvPr id="24" name="Text 19"/>
          <p:cNvSpPr txBox="1"/>
          <p:nvPr/>
        </p:nvSpPr>
        <p:spPr>
          <a:xfrm>
            <a:off x="4663440" y="2216140"/>
            <a:ext cx="3355848" cy="329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Emerging method-transfer practice</a:t>
            </a:r>
            <a:endParaRPr lang="en-US" sz="980" dirty="0"/>
          </a:p>
        </p:txBody>
      </p:sp>
      <p:sp>
        <p:nvSpPr>
          <p:cNvPr id="25" name="Shape 20"/>
          <p:cNvSpPr/>
          <p:nvPr/>
        </p:nvSpPr>
        <p:spPr>
          <a:xfrm>
            <a:off x="4416552" y="2962656"/>
            <a:ext cx="3355848" cy="713232"/>
          </a:xfrm>
          <a:prstGeom prst="roundRect">
            <a:avLst>
              <a:gd name="adj" fmla="val 4487"/>
            </a:avLst>
          </a:prstGeom>
          <a:solidFill>
            <a:srgbClr val="F0EFEC"/>
          </a:solidFill>
          <a:ln w="15240">
            <a:solidFill>
              <a:srgbClr val="8B8E91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416552" y="2962656"/>
            <a:ext cx="50292" cy="713232"/>
          </a:xfrm>
          <a:prstGeom prst="rect">
            <a:avLst/>
          </a:prstGeom>
          <a:solidFill>
            <a:srgbClr val="8B8E91"/>
          </a:solidFill>
          <a:ln w="12700">
            <a:solidFill>
              <a:srgbClr val="8B8E91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4599432" y="3063240"/>
            <a:ext cx="3008376" cy="2710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8B8E91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CURRENT LEADER / ORG HOME — OPEN</a:t>
            </a:r>
            <a:endParaRPr lang="en-US" sz="1140" dirty="0"/>
          </a:p>
        </p:txBody>
      </p:sp>
      <p:sp>
        <p:nvSpPr>
          <p:cNvPr id="28" name="Text 23"/>
          <p:cNvSpPr txBox="1"/>
          <p:nvPr/>
        </p:nvSpPr>
        <p:spPr>
          <a:xfrm>
            <a:off x="4599432" y="3305007"/>
            <a:ext cx="3008376" cy="313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Final structure not yet institutionalized</a:t>
            </a:r>
            <a:endParaRPr lang="en-US" sz="880" dirty="0"/>
          </a:p>
        </p:txBody>
      </p:sp>
      <p:sp>
        <p:nvSpPr>
          <p:cNvPr id="29" name="Shape 24"/>
          <p:cNvSpPr/>
          <p:nvPr/>
        </p:nvSpPr>
        <p:spPr>
          <a:xfrm>
            <a:off x="6094476" y="2606040"/>
            <a:ext cx="0" cy="356616"/>
          </a:xfrm>
          <a:prstGeom prst="line">
            <a:avLst/>
          </a:prstGeom>
          <a:noFill/>
          <a:ln w="13970">
            <a:solidFill>
              <a:srgbClr val="456C98"/>
            </a:solidFill>
            <a:prstDash val="solid"/>
            <a:tailEnd type="triangle"/>
          </a:ln>
        </p:spPr>
      </p:sp>
      <p:sp>
        <p:nvSpPr>
          <p:cNvPr id="30" name="Shape 25"/>
          <p:cNvSpPr/>
          <p:nvPr/>
        </p:nvSpPr>
        <p:spPr>
          <a:xfrm>
            <a:off x="658368" y="4096512"/>
            <a:ext cx="2697480" cy="804672"/>
          </a:xfrm>
          <a:prstGeom prst="roundRect">
            <a:avLst>
              <a:gd name="adj" fmla="val 3977"/>
            </a:avLst>
          </a:prstGeom>
          <a:solidFill>
            <a:srgbClr val="FFFFFF"/>
          </a:solidFill>
          <a:ln w="10160">
            <a:solidFill>
              <a:srgbClr val="101214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658368" y="4096512"/>
            <a:ext cx="50292" cy="804672"/>
          </a:xfrm>
          <a:prstGeom prst="rect">
            <a:avLst/>
          </a:prstGeom>
          <a:solidFill>
            <a:srgbClr val="C45124"/>
          </a:solidFill>
          <a:ln w="12700">
            <a:solidFill>
              <a:srgbClr val="C45124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4672" y="4261104"/>
            <a:ext cx="402336" cy="402336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1316736" y="419709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7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FOUNDRY FIELD</a:t>
            </a:r>
            <a:endParaRPr lang="en-US" sz="1070" dirty="0"/>
          </a:p>
        </p:txBody>
      </p:sp>
      <p:sp>
        <p:nvSpPr>
          <p:cNvPr id="34" name="Text 28"/>
          <p:cNvSpPr txBox="1"/>
          <p:nvPr/>
        </p:nvSpPr>
        <p:spPr>
          <a:xfrm>
            <a:off x="1316736" y="4482755"/>
            <a:ext cx="1874520" cy="354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Product &amp; representation methods</a:t>
            </a:r>
            <a:endParaRPr lang="en-US" sz="850" dirty="0"/>
          </a:p>
        </p:txBody>
      </p:sp>
      <p:sp>
        <p:nvSpPr>
          <p:cNvPr id="35" name="Shape 29"/>
          <p:cNvSpPr/>
          <p:nvPr/>
        </p:nvSpPr>
        <p:spPr>
          <a:xfrm>
            <a:off x="6094476" y="3675888"/>
            <a:ext cx="0" cy="210312"/>
          </a:xfrm>
          <a:prstGeom prst="line">
            <a:avLst/>
          </a:prstGeom>
          <a:noFill/>
          <a:ln w="10160">
            <a:solidFill>
              <a:srgbClr val="C45124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2007108" y="3886200"/>
            <a:ext cx="4087368" cy="0"/>
          </a:xfrm>
          <a:prstGeom prst="line">
            <a:avLst/>
          </a:prstGeom>
          <a:noFill/>
          <a:ln w="10160">
            <a:solidFill>
              <a:srgbClr val="C45124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2007108" y="3886200"/>
            <a:ext cx="0" cy="210312"/>
          </a:xfrm>
          <a:prstGeom prst="line">
            <a:avLst/>
          </a:prstGeom>
          <a:noFill/>
          <a:ln w="10160">
            <a:solidFill>
              <a:srgbClr val="C45124"/>
            </a:solidFill>
            <a:prstDash val="solid"/>
            <a:tailEnd type="triangle"/>
          </a:ln>
        </p:spPr>
      </p:sp>
      <p:sp>
        <p:nvSpPr>
          <p:cNvPr id="38" name="Shape 32"/>
          <p:cNvSpPr/>
          <p:nvPr/>
        </p:nvSpPr>
        <p:spPr>
          <a:xfrm>
            <a:off x="3593592" y="4096512"/>
            <a:ext cx="2697480" cy="804672"/>
          </a:xfrm>
          <a:prstGeom prst="roundRect">
            <a:avLst>
              <a:gd name="adj" fmla="val 3977"/>
            </a:avLst>
          </a:prstGeom>
          <a:solidFill>
            <a:srgbClr val="FFFFFF"/>
          </a:solidFill>
          <a:ln w="10160">
            <a:solidFill>
              <a:srgbClr val="101214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3593592" y="4096512"/>
            <a:ext cx="50292" cy="804672"/>
          </a:xfrm>
          <a:prstGeom prst="rect">
            <a:avLst/>
          </a:prstGeom>
          <a:solidFill>
            <a:srgbClr val="C38B1F"/>
          </a:solidFill>
          <a:ln w="12700">
            <a:solidFill>
              <a:srgbClr val="C38B1F"/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739896" y="4261104"/>
            <a:ext cx="402336" cy="402336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4251960" y="419709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7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PALE SUN / RED WASH</a:t>
            </a:r>
            <a:endParaRPr lang="en-US" sz="1070" dirty="0"/>
          </a:p>
        </p:txBody>
      </p:sp>
      <p:sp>
        <p:nvSpPr>
          <p:cNvPr id="42" name="Text 35"/>
          <p:cNvSpPr txBox="1"/>
          <p:nvPr/>
        </p:nvSpPr>
        <p:spPr>
          <a:xfrm>
            <a:off x="4251960" y="4482755"/>
            <a:ext cx="1874520" cy="354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Operating methods</a:t>
            </a:r>
            <a:endParaRPr lang="en-US" sz="850" dirty="0"/>
          </a:p>
        </p:txBody>
      </p:sp>
      <p:sp>
        <p:nvSpPr>
          <p:cNvPr id="43" name="Shape 36"/>
          <p:cNvSpPr/>
          <p:nvPr/>
        </p:nvSpPr>
        <p:spPr>
          <a:xfrm>
            <a:off x="6094476" y="3675888"/>
            <a:ext cx="0" cy="210312"/>
          </a:xfrm>
          <a:prstGeom prst="line">
            <a:avLst/>
          </a:prstGeom>
          <a:noFill/>
          <a:ln w="10160">
            <a:solidFill>
              <a:srgbClr val="C38B1F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4942332" y="3886200"/>
            <a:ext cx="1152144" cy="0"/>
          </a:xfrm>
          <a:prstGeom prst="line">
            <a:avLst/>
          </a:prstGeom>
          <a:noFill/>
          <a:ln w="10160">
            <a:solidFill>
              <a:srgbClr val="C38B1F"/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4942332" y="3886200"/>
            <a:ext cx="0" cy="210312"/>
          </a:xfrm>
          <a:prstGeom prst="line">
            <a:avLst/>
          </a:prstGeom>
          <a:noFill/>
          <a:ln w="10160">
            <a:solidFill>
              <a:srgbClr val="C38B1F"/>
            </a:solidFill>
            <a:prstDash val="solid"/>
            <a:tailEnd type="triangle"/>
          </a:ln>
        </p:spPr>
      </p:sp>
      <p:sp>
        <p:nvSpPr>
          <p:cNvPr id="46" name="Shape 39"/>
          <p:cNvSpPr/>
          <p:nvPr/>
        </p:nvSpPr>
        <p:spPr>
          <a:xfrm>
            <a:off x="6528816" y="4096512"/>
            <a:ext cx="2697480" cy="804672"/>
          </a:xfrm>
          <a:prstGeom prst="roundRect">
            <a:avLst>
              <a:gd name="adj" fmla="val 3977"/>
            </a:avLst>
          </a:prstGeom>
          <a:solidFill>
            <a:srgbClr val="FFFFFF"/>
          </a:solidFill>
          <a:ln w="10160">
            <a:solidFill>
              <a:srgbClr val="101214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47" name="Shape 40"/>
          <p:cNvSpPr/>
          <p:nvPr/>
        </p:nvSpPr>
        <p:spPr>
          <a:xfrm>
            <a:off x="6528816" y="4096512"/>
            <a:ext cx="50292" cy="804672"/>
          </a:xfrm>
          <a:prstGeom prst="rect">
            <a:avLst/>
          </a:prstGeom>
          <a:solidFill>
            <a:srgbClr val="C45124"/>
          </a:solidFill>
          <a:ln w="12700">
            <a:solidFill>
              <a:srgbClr val="C45124"/>
            </a:solidFill>
            <a:prstDash val="solid"/>
          </a:ln>
        </p:spPr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75120" y="4261104"/>
            <a:ext cx="402336" cy="402336"/>
          </a:xfrm>
          <a:prstGeom prst="rect">
            <a:avLst/>
          </a:prstGeom>
        </p:spPr>
      </p:pic>
      <p:sp>
        <p:nvSpPr>
          <p:cNvPr id="49" name="Text 41"/>
          <p:cNvSpPr txBox="1"/>
          <p:nvPr/>
        </p:nvSpPr>
        <p:spPr>
          <a:xfrm>
            <a:off x="7187184" y="419709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7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ARU / BS&amp;T</a:t>
            </a:r>
            <a:endParaRPr lang="en-US" sz="1070" dirty="0"/>
          </a:p>
        </p:txBody>
      </p:sp>
      <p:sp>
        <p:nvSpPr>
          <p:cNvPr id="50" name="Text 42"/>
          <p:cNvSpPr txBox="1"/>
          <p:nvPr/>
        </p:nvSpPr>
        <p:spPr>
          <a:xfrm>
            <a:off x="7187184" y="4482755"/>
            <a:ext cx="1874520" cy="354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Logistics methods</a:t>
            </a:r>
            <a:endParaRPr lang="en-US" sz="850" dirty="0"/>
          </a:p>
        </p:txBody>
      </p:sp>
      <p:sp>
        <p:nvSpPr>
          <p:cNvPr id="51" name="Shape 43"/>
          <p:cNvSpPr/>
          <p:nvPr/>
        </p:nvSpPr>
        <p:spPr>
          <a:xfrm>
            <a:off x="6094476" y="3675888"/>
            <a:ext cx="0" cy="210312"/>
          </a:xfrm>
          <a:prstGeom prst="line">
            <a:avLst/>
          </a:prstGeom>
          <a:noFill/>
          <a:ln w="10160">
            <a:solidFill>
              <a:srgbClr val="C45124"/>
            </a:solidFill>
            <a:prstDash val="solid"/>
          </a:ln>
        </p:spPr>
      </p:sp>
      <p:sp>
        <p:nvSpPr>
          <p:cNvPr id="52" name="Shape 44"/>
          <p:cNvSpPr/>
          <p:nvPr/>
        </p:nvSpPr>
        <p:spPr>
          <a:xfrm>
            <a:off x="6094476" y="3886200"/>
            <a:ext cx="1783080" cy="0"/>
          </a:xfrm>
          <a:prstGeom prst="line">
            <a:avLst/>
          </a:prstGeom>
          <a:noFill/>
          <a:ln w="10160">
            <a:solidFill>
              <a:srgbClr val="C45124"/>
            </a:solidFill>
            <a:prstDash val="solid"/>
          </a:ln>
        </p:spPr>
      </p:sp>
      <p:sp>
        <p:nvSpPr>
          <p:cNvPr id="53" name="Shape 45"/>
          <p:cNvSpPr/>
          <p:nvPr/>
        </p:nvSpPr>
        <p:spPr>
          <a:xfrm>
            <a:off x="7877556" y="3886200"/>
            <a:ext cx="0" cy="210312"/>
          </a:xfrm>
          <a:prstGeom prst="line">
            <a:avLst/>
          </a:prstGeom>
          <a:noFill/>
          <a:ln w="10160">
            <a:solidFill>
              <a:srgbClr val="C45124"/>
            </a:solidFill>
            <a:prstDash val="solid"/>
            <a:tailEnd type="triangle"/>
          </a:ln>
        </p:spPr>
      </p:sp>
      <p:sp>
        <p:nvSpPr>
          <p:cNvPr id="54" name="Shape 46"/>
          <p:cNvSpPr/>
          <p:nvPr/>
        </p:nvSpPr>
        <p:spPr>
          <a:xfrm>
            <a:off x="9464040" y="4096512"/>
            <a:ext cx="2075688" cy="804672"/>
          </a:xfrm>
          <a:prstGeom prst="roundRect">
            <a:avLst>
              <a:gd name="adj" fmla="val 3977"/>
            </a:avLst>
          </a:prstGeom>
          <a:solidFill>
            <a:srgbClr val="FFFFFF"/>
          </a:solidFill>
          <a:ln w="10160">
            <a:solidFill>
              <a:srgbClr val="101214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55" name="Shape 47"/>
          <p:cNvSpPr/>
          <p:nvPr/>
        </p:nvSpPr>
        <p:spPr>
          <a:xfrm>
            <a:off x="9464040" y="4096512"/>
            <a:ext cx="50292" cy="804672"/>
          </a:xfrm>
          <a:prstGeom prst="rect">
            <a:avLst/>
          </a:prstGeom>
          <a:solidFill>
            <a:srgbClr val="456C98"/>
          </a:solidFill>
          <a:ln w="12700">
            <a:solidFill>
              <a:srgbClr val="456C98"/>
            </a:solidFill>
            <a:prstDash val="solid"/>
          </a:ln>
        </p:spPr>
      </p:sp>
      <p:sp>
        <p:nvSpPr>
          <p:cNvPr id="56" name="Text 48"/>
          <p:cNvSpPr txBox="1"/>
          <p:nvPr/>
        </p:nvSpPr>
        <p:spPr>
          <a:xfrm>
            <a:off x="9646920" y="4197096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7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CLIENT OPERATORS</a:t>
            </a:r>
            <a:endParaRPr lang="en-US" sz="1070" dirty="0"/>
          </a:p>
        </p:txBody>
      </p:sp>
      <p:sp>
        <p:nvSpPr>
          <p:cNvPr id="57" name="Text 49"/>
          <p:cNvSpPr txBox="1"/>
          <p:nvPr/>
        </p:nvSpPr>
        <p:spPr>
          <a:xfrm>
            <a:off x="9646920" y="4482755"/>
            <a:ext cx="1728216" cy="354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External owners</a:t>
            </a:r>
            <a:endParaRPr lang="en-US" sz="850" dirty="0"/>
          </a:p>
        </p:txBody>
      </p:sp>
      <p:sp>
        <p:nvSpPr>
          <p:cNvPr id="58" name="Shape 50"/>
          <p:cNvSpPr/>
          <p:nvPr/>
        </p:nvSpPr>
        <p:spPr>
          <a:xfrm>
            <a:off x="6094476" y="3675888"/>
            <a:ext cx="0" cy="210312"/>
          </a:xfrm>
          <a:prstGeom prst="line">
            <a:avLst/>
          </a:prstGeom>
          <a:noFill/>
          <a:ln w="10160">
            <a:solidFill>
              <a:srgbClr val="456C98"/>
            </a:solidFill>
            <a:prstDash val="solid"/>
          </a:ln>
        </p:spPr>
      </p:sp>
      <p:sp>
        <p:nvSpPr>
          <p:cNvPr id="59" name="Shape 51"/>
          <p:cNvSpPr/>
          <p:nvPr/>
        </p:nvSpPr>
        <p:spPr>
          <a:xfrm>
            <a:off x="6094476" y="3886200"/>
            <a:ext cx="4407408" cy="0"/>
          </a:xfrm>
          <a:prstGeom prst="line">
            <a:avLst/>
          </a:prstGeom>
          <a:noFill/>
          <a:ln w="10160">
            <a:solidFill>
              <a:srgbClr val="456C98"/>
            </a:solidFill>
            <a:prstDash val="solid"/>
          </a:ln>
        </p:spPr>
      </p:sp>
      <p:sp>
        <p:nvSpPr>
          <p:cNvPr id="60" name="Shape 52"/>
          <p:cNvSpPr/>
          <p:nvPr/>
        </p:nvSpPr>
        <p:spPr>
          <a:xfrm>
            <a:off x="10501884" y="3886200"/>
            <a:ext cx="0" cy="210312"/>
          </a:xfrm>
          <a:prstGeom prst="line">
            <a:avLst/>
          </a:prstGeom>
          <a:noFill/>
          <a:ln w="10160">
            <a:solidFill>
              <a:srgbClr val="456C98"/>
            </a:solidFill>
            <a:prstDash val="solid"/>
            <a:tailEnd type="triangle"/>
          </a:ln>
        </p:spPr>
      </p:sp>
      <p:sp>
        <p:nvSpPr>
          <p:cNvPr id="61" name="Shape 53"/>
          <p:cNvSpPr/>
          <p:nvPr/>
        </p:nvSpPr>
        <p:spPr>
          <a:xfrm>
            <a:off x="4114800" y="5285232"/>
            <a:ext cx="3959352" cy="658368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10160">
            <a:solidFill>
              <a:srgbClr val="101214"/>
            </a:solidFill>
            <a:prstDash val="solid"/>
          </a:ln>
          <a:effectLst>
            <a:outerShdw sx="100000" sy="100000" kx="0" ky="0" algn="bl" rotWithShape="0" blurRad="10160" dist="50800" dir="2700000">
              <a:srgbClr val="000000">
                <a:alpha val="5500"/>
              </a:srgbClr>
            </a:outerShdw>
          </a:effectLst>
        </p:spPr>
      </p:sp>
      <p:sp>
        <p:nvSpPr>
          <p:cNvPr id="62" name="Shape 54"/>
          <p:cNvSpPr/>
          <p:nvPr/>
        </p:nvSpPr>
        <p:spPr>
          <a:xfrm>
            <a:off x="4114800" y="5285232"/>
            <a:ext cx="50292" cy="658368"/>
          </a:xfrm>
          <a:prstGeom prst="rect">
            <a:avLst/>
          </a:prstGeom>
          <a:solidFill>
            <a:srgbClr val="456C98"/>
          </a:solidFill>
          <a:ln w="12700">
            <a:solidFill>
              <a:srgbClr val="456C98"/>
            </a:solidFill>
            <a:prstDash val="solid"/>
          </a:ln>
        </p:spPr>
      </p:sp>
      <p:sp>
        <p:nvSpPr>
          <p:cNvPr id="63" name="Text 55"/>
          <p:cNvSpPr txBox="1"/>
          <p:nvPr/>
        </p:nvSpPr>
        <p:spPr>
          <a:xfrm>
            <a:off x="4297680" y="5385816"/>
            <a:ext cx="361188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1012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ADVISORY ENGAGEMENTS</a:t>
            </a:r>
            <a:endParaRPr lang="en-US" sz="1330" dirty="0"/>
          </a:p>
        </p:txBody>
      </p:sp>
      <p:sp>
        <p:nvSpPr>
          <p:cNvPr id="64" name="Text 56"/>
          <p:cNvSpPr txBox="1"/>
          <p:nvPr/>
        </p:nvSpPr>
        <p:spPr>
          <a:xfrm>
            <a:off x="4297680" y="5601249"/>
            <a:ext cx="3611880" cy="2896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Emerging client-owned capability transfer</a:t>
            </a:r>
            <a:endParaRPr lang="en-US" sz="900" dirty="0"/>
          </a:p>
        </p:txBody>
      </p:sp>
      <p:sp>
        <p:nvSpPr>
          <p:cNvPr id="65" name="Shape 57"/>
          <p:cNvSpPr/>
          <p:nvPr/>
        </p:nvSpPr>
        <p:spPr>
          <a:xfrm>
            <a:off x="2007108" y="4901184"/>
            <a:ext cx="0" cy="192024"/>
          </a:xfrm>
          <a:prstGeom prst="line">
            <a:avLst/>
          </a:prstGeom>
          <a:noFill/>
          <a:ln w="8890">
            <a:solidFill>
              <a:srgbClr val="456C98"/>
            </a:solidFill>
            <a:prstDash val="solid"/>
          </a:ln>
        </p:spPr>
      </p:sp>
      <p:sp>
        <p:nvSpPr>
          <p:cNvPr id="66" name="Shape 58"/>
          <p:cNvSpPr/>
          <p:nvPr/>
        </p:nvSpPr>
        <p:spPr>
          <a:xfrm>
            <a:off x="2007108" y="5093208"/>
            <a:ext cx="4087368" cy="0"/>
          </a:xfrm>
          <a:prstGeom prst="line">
            <a:avLst/>
          </a:prstGeom>
          <a:noFill/>
          <a:ln w="8890">
            <a:solidFill>
              <a:srgbClr val="456C98"/>
            </a:solidFill>
            <a:prstDash val="solid"/>
          </a:ln>
        </p:spPr>
      </p:sp>
      <p:sp>
        <p:nvSpPr>
          <p:cNvPr id="67" name="Shape 59"/>
          <p:cNvSpPr/>
          <p:nvPr/>
        </p:nvSpPr>
        <p:spPr>
          <a:xfrm>
            <a:off x="6094476" y="5093208"/>
            <a:ext cx="0" cy="192024"/>
          </a:xfrm>
          <a:prstGeom prst="line">
            <a:avLst/>
          </a:prstGeom>
          <a:noFill/>
          <a:ln w="8890">
            <a:solidFill>
              <a:srgbClr val="456C98"/>
            </a:solidFill>
            <a:prstDash val="solid"/>
            <a:tailEnd type="triangle"/>
          </a:ln>
        </p:spPr>
      </p:sp>
      <p:sp>
        <p:nvSpPr>
          <p:cNvPr id="68" name="Shape 60"/>
          <p:cNvSpPr/>
          <p:nvPr/>
        </p:nvSpPr>
        <p:spPr>
          <a:xfrm>
            <a:off x="4942332" y="4901184"/>
            <a:ext cx="0" cy="192024"/>
          </a:xfrm>
          <a:prstGeom prst="line">
            <a:avLst/>
          </a:prstGeom>
          <a:noFill/>
          <a:ln w="8890">
            <a:solidFill>
              <a:srgbClr val="456C98"/>
            </a:solidFill>
            <a:prstDash val="solid"/>
          </a:ln>
        </p:spPr>
      </p:sp>
      <p:sp>
        <p:nvSpPr>
          <p:cNvPr id="69" name="Shape 61"/>
          <p:cNvSpPr/>
          <p:nvPr/>
        </p:nvSpPr>
        <p:spPr>
          <a:xfrm>
            <a:off x="4942332" y="5093208"/>
            <a:ext cx="1152144" cy="0"/>
          </a:xfrm>
          <a:prstGeom prst="line">
            <a:avLst/>
          </a:prstGeom>
          <a:noFill/>
          <a:ln w="8890">
            <a:solidFill>
              <a:srgbClr val="456C98"/>
            </a:solidFill>
            <a:prstDash val="solid"/>
          </a:ln>
        </p:spPr>
      </p:sp>
      <p:sp>
        <p:nvSpPr>
          <p:cNvPr id="70" name="Shape 62"/>
          <p:cNvSpPr/>
          <p:nvPr/>
        </p:nvSpPr>
        <p:spPr>
          <a:xfrm>
            <a:off x="6094476" y="5093208"/>
            <a:ext cx="0" cy="192024"/>
          </a:xfrm>
          <a:prstGeom prst="line">
            <a:avLst/>
          </a:prstGeom>
          <a:noFill/>
          <a:ln w="8890">
            <a:solidFill>
              <a:srgbClr val="456C98"/>
            </a:solidFill>
            <a:prstDash val="solid"/>
            <a:tailEnd type="triangle"/>
          </a:ln>
        </p:spPr>
      </p:sp>
      <p:sp>
        <p:nvSpPr>
          <p:cNvPr id="71" name="Shape 63"/>
          <p:cNvSpPr/>
          <p:nvPr/>
        </p:nvSpPr>
        <p:spPr>
          <a:xfrm>
            <a:off x="7877556" y="4901184"/>
            <a:ext cx="0" cy="192024"/>
          </a:xfrm>
          <a:prstGeom prst="line">
            <a:avLst/>
          </a:prstGeom>
          <a:noFill/>
          <a:ln w="8890">
            <a:solidFill>
              <a:srgbClr val="456C98"/>
            </a:solidFill>
            <a:prstDash val="solid"/>
          </a:ln>
        </p:spPr>
      </p:sp>
      <p:sp>
        <p:nvSpPr>
          <p:cNvPr id="72" name="Shape 64"/>
          <p:cNvSpPr/>
          <p:nvPr/>
        </p:nvSpPr>
        <p:spPr>
          <a:xfrm>
            <a:off x="6094476" y="5093208"/>
            <a:ext cx="1783080" cy="0"/>
          </a:xfrm>
          <a:prstGeom prst="line">
            <a:avLst/>
          </a:prstGeom>
          <a:noFill/>
          <a:ln w="8890">
            <a:solidFill>
              <a:srgbClr val="456C98"/>
            </a:solidFill>
            <a:prstDash val="solid"/>
          </a:ln>
        </p:spPr>
      </p:sp>
      <p:sp>
        <p:nvSpPr>
          <p:cNvPr id="73" name="Shape 65"/>
          <p:cNvSpPr/>
          <p:nvPr/>
        </p:nvSpPr>
        <p:spPr>
          <a:xfrm>
            <a:off x="6094476" y="5093208"/>
            <a:ext cx="0" cy="192024"/>
          </a:xfrm>
          <a:prstGeom prst="line">
            <a:avLst/>
          </a:prstGeom>
          <a:noFill/>
          <a:ln w="8890">
            <a:solidFill>
              <a:srgbClr val="456C98"/>
            </a:solidFill>
            <a:prstDash val="solid"/>
            <a:tailEnd type="triangle"/>
          </a:ln>
        </p:spPr>
      </p:sp>
      <p:sp>
        <p:nvSpPr>
          <p:cNvPr id="74" name="Shape 66"/>
          <p:cNvSpPr/>
          <p:nvPr/>
        </p:nvSpPr>
        <p:spPr>
          <a:xfrm>
            <a:off x="10501884" y="4901184"/>
            <a:ext cx="0" cy="192024"/>
          </a:xfrm>
          <a:prstGeom prst="line">
            <a:avLst/>
          </a:prstGeom>
          <a:noFill/>
          <a:ln w="8890">
            <a:solidFill>
              <a:srgbClr val="456C98"/>
            </a:solidFill>
            <a:prstDash val="solid"/>
          </a:ln>
        </p:spPr>
      </p:sp>
      <p:sp>
        <p:nvSpPr>
          <p:cNvPr id="75" name="Shape 67"/>
          <p:cNvSpPr/>
          <p:nvPr/>
        </p:nvSpPr>
        <p:spPr>
          <a:xfrm>
            <a:off x="6094476" y="5093208"/>
            <a:ext cx="4407408" cy="0"/>
          </a:xfrm>
          <a:prstGeom prst="line">
            <a:avLst/>
          </a:prstGeom>
          <a:noFill/>
          <a:ln w="8890">
            <a:solidFill>
              <a:srgbClr val="456C98"/>
            </a:solidFill>
            <a:prstDash val="solid"/>
          </a:ln>
        </p:spPr>
      </p:sp>
      <p:sp>
        <p:nvSpPr>
          <p:cNvPr id="76" name="Shape 68"/>
          <p:cNvSpPr/>
          <p:nvPr/>
        </p:nvSpPr>
        <p:spPr>
          <a:xfrm>
            <a:off x="6094476" y="5093208"/>
            <a:ext cx="0" cy="192024"/>
          </a:xfrm>
          <a:prstGeom prst="line">
            <a:avLst/>
          </a:prstGeom>
          <a:noFill/>
          <a:ln w="8890">
            <a:solidFill>
              <a:srgbClr val="456C98"/>
            </a:solidFill>
            <a:prstDash val="solid"/>
            <a:tailEnd type="triangle"/>
          </a:ln>
        </p:spPr>
      </p:sp>
      <p:sp>
        <p:nvSpPr>
          <p:cNvPr id="77" name="Shape 69"/>
          <p:cNvSpPr/>
          <p:nvPr/>
        </p:nvSpPr>
        <p:spPr>
          <a:xfrm>
            <a:off x="658368" y="6016752"/>
            <a:ext cx="10881360" cy="310896"/>
          </a:xfrm>
          <a:prstGeom prst="roundRect">
            <a:avLst>
              <a:gd name="adj" fmla="val 7353"/>
            </a:avLst>
          </a:prstGeom>
          <a:solidFill>
            <a:srgbClr val="FCFBF8"/>
          </a:solidFill>
          <a:ln w="10160">
            <a:solidFill>
              <a:srgbClr val="D9D5CD"/>
            </a:solidFill>
            <a:prstDash val="solid"/>
          </a:ln>
        </p:spPr>
      </p:sp>
      <p:sp>
        <p:nvSpPr>
          <p:cNvPr id="78" name="Shape 70"/>
          <p:cNvSpPr/>
          <p:nvPr/>
        </p:nvSpPr>
        <p:spPr>
          <a:xfrm>
            <a:off x="658368" y="6016752"/>
            <a:ext cx="64008" cy="310896"/>
          </a:xfrm>
          <a:prstGeom prst="rect">
            <a:avLst/>
          </a:prstGeom>
          <a:solidFill>
            <a:srgbClr val="456C98"/>
          </a:solidFill>
          <a:ln w="12700">
            <a:solidFill>
              <a:srgbClr val="456C98"/>
            </a:solidFill>
            <a:prstDash val="solid"/>
          </a:ln>
        </p:spPr>
      </p:sp>
      <p:sp>
        <p:nvSpPr>
          <p:cNvPr id="79" name="Text 71"/>
          <p:cNvSpPr txBox="1"/>
          <p:nvPr/>
        </p:nvSpPr>
        <p:spPr>
          <a:xfrm>
            <a:off x="841248" y="6044184"/>
            <a:ext cx="10561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As of August 31, 2026, the exact practice name, leader, P&amp;L, pricing, service catalog, and organizational home remain OPEN. The direction—method transfer rather than generic consulting—is locked.</a:t>
            </a:r>
            <a:endParaRPr lang="en-US" sz="860" dirty="0"/>
          </a:p>
        </p:txBody>
      </p:sp>
      <p:sp>
        <p:nvSpPr>
          <p:cNvPr id="80" name="Text 72"/>
          <p:cNvSpPr txBox="1"/>
          <p:nvPr/>
        </p:nvSpPr>
        <p:spPr>
          <a:xfrm>
            <a:off x="438912" y="6510528"/>
            <a:ext cx="4114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Canon date: August 31, 2026</a:t>
            </a:r>
            <a:endParaRPr lang="en-US" sz="760" dirty="0"/>
          </a:p>
        </p:txBody>
      </p:sp>
      <p:sp>
        <p:nvSpPr>
          <p:cNvPr id="81" name="Text 73"/>
          <p:cNvSpPr txBox="1"/>
          <p:nvPr/>
        </p:nvSpPr>
        <p:spPr>
          <a:xfrm>
            <a:off x="4572000" y="647395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6F747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Solid line = unit leadership or containment  •  Dashed line = cross-company interface  •  OPEN = unresolved by canon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77A7D"/>
                </a:solidFill>
                <a:latin typeface="Inter Display"/>
                <a:ea typeface="Inter Display"/>
                <a:cs typeface="Inter Display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 Display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Sable Harbor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Sable Harbor Organization Briefing — August 31, 2026</dc:title>
  <dc:subject>Enterprise and business-line organization briefing</dc:subject>
  <dc:creator>Sable Harbor</dc:creator>
  <cp:lastModifiedBy>Sable Harbor</cp:lastModifiedBy>
  <cp:revision>1</cp:revision>
  <dcterms:created xsi:type="dcterms:W3CDTF">2026-09-01T07:28:33Z</dcterms:created>
  <dcterms:modified xsi:type="dcterms:W3CDTF">2026-09-01T07:28:33Z</dcterms:modified>
</cp:coreProperties>
</file>